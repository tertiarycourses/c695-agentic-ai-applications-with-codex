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4" r:id="rId226"/>
    <p:sldId id="477" r:id="rId229"/>
    <p:sldId id="478" r:id="rId2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Relationship Id="rId82" Type="http://schemas.openxmlformats.org/officeDocument/2006/relationships/slide" Target="slides/slide70.xml"/><Relationship Id="rId83" Type="http://schemas.openxmlformats.org/officeDocument/2006/relationships/slide" Target="slides/slide71.xml"/><Relationship Id="rId84" Type="http://schemas.openxmlformats.org/officeDocument/2006/relationships/slide" Target="slides/slide72.xml"/><Relationship Id="rId85" Type="http://schemas.openxmlformats.org/officeDocument/2006/relationships/slide" Target="slides/slide73.xml"/><Relationship Id="rId86" Type="http://schemas.openxmlformats.org/officeDocument/2006/relationships/slide" Target="slides/slide74.xml"/><Relationship Id="rId87" Type="http://schemas.openxmlformats.org/officeDocument/2006/relationships/slide" Target="slides/slide75.xml"/><Relationship Id="rId88" Type="http://schemas.openxmlformats.org/officeDocument/2006/relationships/slide" Target="slides/slide76.xml"/><Relationship Id="rId89" Type="http://schemas.openxmlformats.org/officeDocument/2006/relationships/slide" Target="slides/slide77.xml"/><Relationship Id="rId90" Type="http://schemas.openxmlformats.org/officeDocument/2006/relationships/slide" Target="slides/slide78.xml"/><Relationship Id="rId91" Type="http://schemas.openxmlformats.org/officeDocument/2006/relationships/slide" Target="slides/slide79.xml"/><Relationship Id="rId92" Type="http://schemas.openxmlformats.org/officeDocument/2006/relationships/slide" Target="slides/slide80.xml"/><Relationship Id="rId93" Type="http://schemas.openxmlformats.org/officeDocument/2006/relationships/slide" Target="slides/slide81.xml"/><Relationship Id="rId94" Type="http://schemas.openxmlformats.org/officeDocument/2006/relationships/slide" Target="slides/slide82.xml"/><Relationship Id="rId95" Type="http://schemas.openxmlformats.org/officeDocument/2006/relationships/slide" Target="slides/slide83.xml"/><Relationship Id="rId96" Type="http://schemas.openxmlformats.org/officeDocument/2006/relationships/slide" Target="slides/slide84.xml"/><Relationship Id="rId97" Type="http://schemas.openxmlformats.org/officeDocument/2006/relationships/slide" Target="slides/slide85.xml"/><Relationship Id="rId98" Type="http://schemas.openxmlformats.org/officeDocument/2006/relationships/slide" Target="slides/slide86.xml"/><Relationship Id="rId99" Type="http://schemas.openxmlformats.org/officeDocument/2006/relationships/slide" Target="slides/slide87.xml"/><Relationship Id="rId100" Type="http://schemas.openxmlformats.org/officeDocument/2006/relationships/slide" Target="slides/slide88.xml"/><Relationship Id="rId101" Type="http://schemas.openxmlformats.org/officeDocument/2006/relationships/slide" Target="slides/slide89.xml"/><Relationship Id="rId102" Type="http://schemas.openxmlformats.org/officeDocument/2006/relationships/slide" Target="slides/slide90.xml"/><Relationship Id="rId103" Type="http://schemas.openxmlformats.org/officeDocument/2006/relationships/slide" Target="slides/slide91.xml"/><Relationship Id="rId104" Type="http://schemas.openxmlformats.org/officeDocument/2006/relationships/slide" Target="slides/slide92.xml"/><Relationship Id="rId105" Type="http://schemas.openxmlformats.org/officeDocument/2006/relationships/slide" Target="slides/slide93.xml"/><Relationship Id="rId106" Type="http://schemas.openxmlformats.org/officeDocument/2006/relationships/slide" Target="slides/slide94.xml"/><Relationship Id="rId107" Type="http://schemas.openxmlformats.org/officeDocument/2006/relationships/slide" Target="slides/slide95.xml"/><Relationship Id="rId108" Type="http://schemas.openxmlformats.org/officeDocument/2006/relationships/slide" Target="slides/slide96.xml"/><Relationship Id="rId109" Type="http://schemas.openxmlformats.org/officeDocument/2006/relationships/slide" Target="slides/slide97.xml"/><Relationship Id="rId110" Type="http://schemas.openxmlformats.org/officeDocument/2006/relationships/slide" Target="slides/slide98.xml"/><Relationship Id="rId111" Type="http://schemas.openxmlformats.org/officeDocument/2006/relationships/slide" Target="slides/slide99.xml"/><Relationship Id="rId112" Type="http://schemas.openxmlformats.org/officeDocument/2006/relationships/slide" Target="slides/slide100.xml"/><Relationship Id="rId113" Type="http://schemas.openxmlformats.org/officeDocument/2006/relationships/slide" Target="slides/slide101.xml"/><Relationship Id="rId114" Type="http://schemas.openxmlformats.org/officeDocument/2006/relationships/slide" Target="slides/slide102.xml"/><Relationship Id="rId115" Type="http://schemas.openxmlformats.org/officeDocument/2006/relationships/slide" Target="slides/slide103.xml"/><Relationship Id="rId116" Type="http://schemas.openxmlformats.org/officeDocument/2006/relationships/slide" Target="slides/slide104.xml"/><Relationship Id="rId117" Type="http://schemas.openxmlformats.org/officeDocument/2006/relationships/slide" Target="slides/slide105.xml"/><Relationship Id="rId118" Type="http://schemas.openxmlformats.org/officeDocument/2006/relationships/slide" Target="slides/slide106.xml"/><Relationship Id="rId119" Type="http://schemas.openxmlformats.org/officeDocument/2006/relationships/slide" Target="slides/slide107.xml"/><Relationship Id="rId120" Type="http://schemas.openxmlformats.org/officeDocument/2006/relationships/slide" Target="slides/slide108.xml"/><Relationship Id="rId121" Type="http://schemas.openxmlformats.org/officeDocument/2006/relationships/slide" Target="slides/slide109.xml"/><Relationship Id="rId122" Type="http://schemas.openxmlformats.org/officeDocument/2006/relationships/slide" Target="slides/slide110.xml"/><Relationship Id="rId123" Type="http://schemas.openxmlformats.org/officeDocument/2006/relationships/slide" Target="slides/slide111.xml"/><Relationship Id="rId124" Type="http://schemas.openxmlformats.org/officeDocument/2006/relationships/slide" Target="slides/slide112.xml"/><Relationship Id="rId125" Type="http://schemas.openxmlformats.org/officeDocument/2006/relationships/slide" Target="slides/slide113.xml"/><Relationship Id="rId126" Type="http://schemas.openxmlformats.org/officeDocument/2006/relationships/slide" Target="slides/slide114.xml"/><Relationship Id="rId127" Type="http://schemas.openxmlformats.org/officeDocument/2006/relationships/slide" Target="slides/slide115.xml"/><Relationship Id="rId128" Type="http://schemas.openxmlformats.org/officeDocument/2006/relationships/slide" Target="slides/slide116.xml"/><Relationship Id="rId129" Type="http://schemas.openxmlformats.org/officeDocument/2006/relationships/slide" Target="slides/slide117.xml"/><Relationship Id="rId130" Type="http://schemas.openxmlformats.org/officeDocument/2006/relationships/slide" Target="slides/slide118.xml"/><Relationship Id="rId131" Type="http://schemas.openxmlformats.org/officeDocument/2006/relationships/slide" Target="slides/slide119.xml"/><Relationship Id="rId132" Type="http://schemas.openxmlformats.org/officeDocument/2006/relationships/slide" Target="slides/slide120.xml"/><Relationship Id="rId133" Type="http://schemas.openxmlformats.org/officeDocument/2006/relationships/slide" Target="slides/slide121.xml"/><Relationship Id="rId134" Type="http://schemas.openxmlformats.org/officeDocument/2006/relationships/slide" Target="slides/slide122.xml"/><Relationship Id="rId135" Type="http://schemas.openxmlformats.org/officeDocument/2006/relationships/slide" Target="slides/slide123.xml"/><Relationship Id="rId136" Type="http://schemas.openxmlformats.org/officeDocument/2006/relationships/slide" Target="slides/slide124.xml"/><Relationship Id="rId137" Type="http://schemas.openxmlformats.org/officeDocument/2006/relationships/slide" Target="slides/slide125.xml"/><Relationship Id="rId138" Type="http://schemas.openxmlformats.org/officeDocument/2006/relationships/slide" Target="slides/slide126.xml"/><Relationship Id="rId139" Type="http://schemas.openxmlformats.org/officeDocument/2006/relationships/slide" Target="slides/slide127.xml"/><Relationship Id="rId140" Type="http://schemas.openxmlformats.org/officeDocument/2006/relationships/slide" Target="slides/slide128.xml"/><Relationship Id="rId141" Type="http://schemas.openxmlformats.org/officeDocument/2006/relationships/slide" Target="slides/slide129.xml"/><Relationship Id="rId142" Type="http://schemas.openxmlformats.org/officeDocument/2006/relationships/slide" Target="slides/slide130.xml"/><Relationship Id="rId143" Type="http://schemas.openxmlformats.org/officeDocument/2006/relationships/slide" Target="slides/slide131.xml"/><Relationship Id="rId144" Type="http://schemas.openxmlformats.org/officeDocument/2006/relationships/slide" Target="slides/slide132.xml"/><Relationship Id="rId145" Type="http://schemas.openxmlformats.org/officeDocument/2006/relationships/slide" Target="slides/slide133.xml"/><Relationship Id="rId146" Type="http://schemas.openxmlformats.org/officeDocument/2006/relationships/slide" Target="slides/slide134.xml"/><Relationship Id="rId147" Type="http://schemas.openxmlformats.org/officeDocument/2006/relationships/slide" Target="slides/slide135.xml"/><Relationship Id="rId148" Type="http://schemas.openxmlformats.org/officeDocument/2006/relationships/slide" Target="slides/slide136.xml"/><Relationship Id="rId149" Type="http://schemas.openxmlformats.org/officeDocument/2006/relationships/slide" Target="slides/slide137.xml"/><Relationship Id="rId150" Type="http://schemas.openxmlformats.org/officeDocument/2006/relationships/slide" Target="slides/slide138.xml"/><Relationship Id="rId151" Type="http://schemas.openxmlformats.org/officeDocument/2006/relationships/slide" Target="slides/slide139.xml"/><Relationship Id="rId152" Type="http://schemas.openxmlformats.org/officeDocument/2006/relationships/slide" Target="slides/slide140.xml"/><Relationship Id="rId153" Type="http://schemas.openxmlformats.org/officeDocument/2006/relationships/slide" Target="slides/slide141.xml"/><Relationship Id="rId154" Type="http://schemas.openxmlformats.org/officeDocument/2006/relationships/slide" Target="slides/slide142.xml"/><Relationship Id="rId155" Type="http://schemas.openxmlformats.org/officeDocument/2006/relationships/slide" Target="slides/slide143.xml"/><Relationship Id="rId156" Type="http://schemas.openxmlformats.org/officeDocument/2006/relationships/slide" Target="slides/slide144.xml"/><Relationship Id="rId157" Type="http://schemas.openxmlformats.org/officeDocument/2006/relationships/slide" Target="slides/slide145.xml"/><Relationship Id="rId158" Type="http://schemas.openxmlformats.org/officeDocument/2006/relationships/slide" Target="slides/slide146.xml"/><Relationship Id="rId159" Type="http://schemas.openxmlformats.org/officeDocument/2006/relationships/slide" Target="slides/slide147.xml"/><Relationship Id="rId160" Type="http://schemas.openxmlformats.org/officeDocument/2006/relationships/slide" Target="slides/slide148.xml"/><Relationship Id="rId161" Type="http://schemas.openxmlformats.org/officeDocument/2006/relationships/slide" Target="slides/slide149.xml"/><Relationship Id="rId162" Type="http://schemas.openxmlformats.org/officeDocument/2006/relationships/slide" Target="slides/slide150.xml"/><Relationship Id="rId163" Type="http://schemas.openxmlformats.org/officeDocument/2006/relationships/slide" Target="slides/slide151.xml"/><Relationship Id="rId164" Type="http://schemas.openxmlformats.org/officeDocument/2006/relationships/slide" Target="slides/slide152.xml"/><Relationship Id="rId165" Type="http://schemas.openxmlformats.org/officeDocument/2006/relationships/slide" Target="slides/slide153.xml"/><Relationship Id="rId166" Type="http://schemas.openxmlformats.org/officeDocument/2006/relationships/slide" Target="slides/slide154.xml"/><Relationship Id="rId167" Type="http://schemas.openxmlformats.org/officeDocument/2006/relationships/slide" Target="slides/slide155.xml"/><Relationship Id="rId168" Type="http://schemas.openxmlformats.org/officeDocument/2006/relationships/slide" Target="slides/slide156.xml"/><Relationship Id="rId169" Type="http://schemas.openxmlformats.org/officeDocument/2006/relationships/slide" Target="slides/slide157.xml"/><Relationship Id="rId170" Type="http://schemas.openxmlformats.org/officeDocument/2006/relationships/slide" Target="slides/slide158.xml"/><Relationship Id="rId171" Type="http://schemas.openxmlformats.org/officeDocument/2006/relationships/slide" Target="slides/slide159.xml"/><Relationship Id="rId172" Type="http://schemas.openxmlformats.org/officeDocument/2006/relationships/slide" Target="slides/slide160.xml"/><Relationship Id="rId173" Type="http://schemas.openxmlformats.org/officeDocument/2006/relationships/slide" Target="slides/slide161.xml"/><Relationship Id="rId174" Type="http://schemas.openxmlformats.org/officeDocument/2006/relationships/slide" Target="slides/slide162.xml"/><Relationship Id="rId175" Type="http://schemas.openxmlformats.org/officeDocument/2006/relationships/slide" Target="slides/slide163.xml"/><Relationship Id="rId176" Type="http://schemas.openxmlformats.org/officeDocument/2006/relationships/slide" Target="slides/slide164.xml"/><Relationship Id="rId177" Type="http://schemas.openxmlformats.org/officeDocument/2006/relationships/slide" Target="slides/slide165.xml"/><Relationship Id="rId178" Type="http://schemas.openxmlformats.org/officeDocument/2006/relationships/slide" Target="slides/slide166.xml"/><Relationship Id="rId179" Type="http://schemas.openxmlformats.org/officeDocument/2006/relationships/slide" Target="slides/slide167.xml"/><Relationship Id="rId180" Type="http://schemas.openxmlformats.org/officeDocument/2006/relationships/slide" Target="slides/slide168.xml"/><Relationship Id="rId181" Type="http://schemas.openxmlformats.org/officeDocument/2006/relationships/slide" Target="slides/slide169.xml"/><Relationship Id="rId182" Type="http://schemas.openxmlformats.org/officeDocument/2006/relationships/slide" Target="slides/slide170.xml"/><Relationship Id="rId183" Type="http://schemas.openxmlformats.org/officeDocument/2006/relationships/slide" Target="slides/slide171.xml"/><Relationship Id="rId184" Type="http://schemas.openxmlformats.org/officeDocument/2006/relationships/slide" Target="slides/slide172.xml"/><Relationship Id="rId185" Type="http://schemas.openxmlformats.org/officeDocument/2006/relationships/slide" Target="slides/slide173.xml"/><Relationship Id="rId186" Type="http://schemas.openxmlformats.org/officeDocument/2006/relationships/slide" Target="slides/slide174.xml"/><Relationship Id="rId187" Type="http://schemas.openxmlformats.org/officeDocument/2006/relationships/slide" Target="slides/slide175.xml"/><Relationship Id="rId188" Type="http://schemas.openxmlformats.org/officeDocument/2006/relationships/slide" Target="slides/slide176.xml"/><Relationship Id="rId189" Type="http://schemas.openxmlformats.org/officeDocument/2006/relationships/slide" Target="slides/slide177.xml"/><Relationship Id="rId190" Type="http://schemas.openxmlformats.org/officeDocument/2006/relationships/slide" Target="slides/slide178.xml"/><Relationship Id="rId191" Type="http://schemas.openxmlformats.org/officeDocument/2006/relationships/slide" Target="slides/slide179.xml"/><Relationship Id="rId192" Type="http://schemas.openxmlformats.org/officeDocument/2006/relationships/slide" Target="slides/slide180.xml"/><Relationship Id="rId193" Type="http://schemas.openxmlformats.org/officeDocument/2006/relationships/slide" Target="slides/slide181.xml"/><Relationship Id="rId194" Type="http://schemas.openxmlformats.org/officeDocument/2006/relationships/slide" Target="slides/slide182.xml"/><Relationship Id="rId195" Type="http://schemas.openxmlformats.org/officeDocument/2006/relationships/slide" Target="slides/slide183.xml"/><Relationship Id="rId196" Type="http://schemas.openxmlformats.org/officeDocument/2006/relationships/slide" Target="slides/slide184.xml"/><Relationship Id="rId197" Type="http://schemas.openxmlformats.org/officeDocument/2006/relationships/slide" Target="slides/slide185.xml"/><Relationship Id="rId198" Type="http://schemas.openxmlformats.org/officeDocument/2006/relationships/slide" Target="slides/slide186.xml"/><Relationship Id="rId199" Type="http://schemas.openxmlformats.org/officeDocument/2006/relationships/slide" Target="slides/slide187.xml"/><Relationship Id="rId200" Type="http://schemas.openxmlformats.org/officeDocument/2006/relationships/slide" Target="slides/slide188.xml"/><Relationship Id="rId201" Type="http://schemas.openxmlformats.org/officeDocument/2006/relationships/slide" Target="slides/slide189.xml"/><Relationship Id="rId202" Type="http://schemas.openxmlformats.org/officeDocument/2006/relationships/slide" Target="slides/slide190.xml"/><Relationship Id="rId203" Type="http://schemas.openxmlformats.org/officeDocument/2006/relationships/slide" Target="slides/slide191.xml"/><Relationship Id="rId204" Type="http://schemas.openxmlformats.org/officeDocument/2006/relationships/slide" Target="slides/slide192.xml"/><Relationship Id="rId205" Type="http://schemas.openxmlformats.org/officeDocument/2006/relationships/slide" Target="slides/slide193.xml"/><Relationship Id="rId206" Type="http://schemas.openxmlformats.org/officeDocument/2006/relationships/slide" Target="slides/slide194.xml"/><Relationship Id="rId207" Type="http://schemas.openxmlformats.org/officeDocument/2006/relationships/slide" Target="slides/slide195.xml"/><Relationship Id="rId208" Type="http://schemas.openxmlformats.org/officeDocument/2006/relationships/slide" Target="slides/slide196.xml"/><Relationship Id="rId209" Type="http://schemas.openxmlformats.org/officeDocument/2006/relationships/slide" Target="slides/slide197.xml"/><Relationship Id="rId210" Type="http://schemas.openxmlformats.org/officeDocument/2006/relationships/slide" Target="slides/slide198.xml"/><Relationship Id="rId211" Type="http://schemas.openxmlformats.org/officeDocument/2006/relationships/slide" Target="slides/slide199.xml"/><Relationship Id="rId212" Type="http://schemas.openxmlformats.org/officeDocument/2006/relationships/slide" Target="slides/slide200.xml"/><Relationship Id="rId213" Type="http://schemas.openxmlformats.org/officeDocument/2006/relationships/slide" Target="slides/slide201.xml"/><Relationship Id="rId214" Type="http://schemas.openxmlformats.org/officeDocument/2006/relationships/slide" Target="slides/slide202.xml"/><Relationship Id="rId215" Type="http://schemas.openxmlformats.org/officeDocument/2006/relationships/slide" Target="slides/slide203.xml"/><Relationship Id="rId216" Type="http://schemas.openxmlformats.org/officeDocument/2006/relationships/slide" Target="slides/slide204.xml"/><Relationship Id="rId217" Type="http://schemas.openxmlformats.org/officeDocument/2006/relationships/slide" Target="slides/slide205.xml"/><Relationship Id="rId218" Type="http://schemas.openxmlformats.org/officeDocument/2006/relationships/slide" Target="slides/slide206.xml"/><Relationship Id="rId219" Type="http://schemas.openxmlformats.org/officeDocument/2006/relationships/slide" Target="slides/slide207.xml"/><Relationship Id="rId220" Type="http://schemas.openxmlformats.org/officeDocument/2006/relationships/slide" Target="slides/slide208.xml"/><Relationship Id="rId221" Type="http://schemas.openxmlformats.org/officeDocument/2006/relationships/slide" Target="slides/slide209.xml"/><Relationship Id="rId222" Type="http://schemas.openxmlformats.org/officeDocument/2006/relationships/slide" Target="slides/slide210.xml"/><Relationship Id="rId223" Type="http://schemas.openxmlformats.org/officeDocument/2006/relationships/slide" Target="slides/slide211.xml"/><Relationship Id="rId224" Type="http://schemas.openxmlformats.org/officeDocument/2006/relationships/slide" Target="slides/slide212.xml"/><Relationship Id="rId226" Type="http://schemas.openxmlformats.org/officeDocument/2006/relationships/slide" Target="slides/slide213.xml"/><Relationship Id="rId229" Type="http://schemas.openxmlformats.org/officeDocument/2006/relationships/slide" Target="slides/slide214.xml"/><Relationship Id="rId230" Type="http://schemas.openxmlformats.org/officeDocument/2006/relationships/slide" Target="slides/slide2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 score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Novel</c:v>
                </c:pt>
                <c:pt idx="1">
                  <c:v>Repeatable</c:v>
                </c:pt>
                <c:pt idx="2">
                  <c:v>Testable</c:v>
                </c:pt>
                <c:pt idx="3">
                  <c:v>Bounded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61</c:v>
                </c:pt>
                <c:pt idx="2">
                  <c:v>84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covered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Prompt</c:v>
                </c:pt>
                <c:pt idx="1">
                  <c:v>Diff</c:v>
                </c:pt>
                <c:pt idx="2">
                  <c:v>Tests</c:v>
                </c:pt>
                <c:pt idx="3">
                  <c:v>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73</c:v>
                </c:pt>
                <c:pt idx="2">
                  <c:v>92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human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Inspect</c:v>
                </c:pt>
                <c:pt idx="1">
                  <c:v>Edit</c:v>
                </c:pt>
                <c:pt idx="2">
                  <c:v>External</c:v>
                </c:pt>
                <c:pt idx="3">
                  <c:v>Destructive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35</c:v>
                </c:pt>
                <c:pt idx="2">
                  <c:v>82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relevant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Raw repo</c:v>
                </c:pt>
                <c:pt idx="1">
                  <c:v>Scoped files</c:v>
                </c:pt>
                <c:pt idx="2">
                  <c:v>Summary</c:v>
                </c:pt>
                <c:pt idx="3">
                  <c:v>Decision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62</c:v>
                </c:pt>
                <c:pt idx="2">
                  <c:v>84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collision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One tree</c:v>
                </c:pt>
                <c:pt idx="1">
                  <c:v>Branches</c:v>
                </c:pt>
                <c:pt idx="2">
                  <c:v>Worktrees</c:v>
                </c:pt>
                <c:pt idx="3">
                  <c:v>Owned seams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46</c:v>
                </c:pt>
                <c:pt idx="2">
                  <c:v>18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index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Unbounded</c:v>
                </c:pt>
                <c:pt idx="1">
                  <c:v>Workspace</c:v>
                </c:pt>
                <c:pt idx="2">
                  <c:v>Read-only</c:v>
                </c:pt>
                <c:pt idx="3">
                  <c:v>Exact gate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55</c:v>
                </c:pt>
                <c:pt idx="2">
                  <c:v>24</c:v>
                </c:pt>
                <c:pt idx="3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precise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Positive</c:v>
                </c:pt>
                <c:pt idx="2">
                  <c:v>Near-miss</c:v>
                </c:pt>
                <c:pt idx="3">
                  <c:v>Refined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73</c:v>
                </c:pt>
                <c:pt idx="2">
                  <c:v>81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observable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Text</c:v>
                </c:pt>
                <c:pt idx="1">
                  <c:v>Status</c:v>
                </c:pt>
                <c:pt idx="2">
                  <c:v>JSONL</c:v>
                </c:pt>
                <c:pt idx="3">
                  <c:v>Evidence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55</c:v>
                </c:pt>
                <c:pt idx="2">
                  <c:v>83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review index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File</c:v>
                </c:pt>
                <c:pt idx="1">
                  <c:v>Browser</c:v>
                </c:pt>
                <c:pt idx="2">
                  <c:v>MCP</c:v>
                </c:pt>
                <c:pt idx="3">
                  <c:v>External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34</c:v>
                </c:pt>
                <c:pt idx="2">
                  <c:v>61</c:v>
                </c:pt>
                <c:pt idx="3">
                  <c:v>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confidence</c:v>
                </c:pt>
              </c:strCache>
            </c:strRef>
          </c:tx>
          <c:spPr>
            <a:solidFill>
              <a:srgbClr val="E0911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Demo</c:v>
                </c:pt>
                <c:pt idx="1">
                  <c:v>Core</c:v>
                </c:pt>
                <c:pt idx="2">
                  <c:v>Edge</c:v>
                </c:pt>
                <c:pt idx="3">
                  <c:v>Failure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58</c:v>
                </c:pt>
                <c:pt idx="2">
                  <c:v>82</c:v>
                </c:pt>
                <c:pt idx="3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accepted</c:v>
                </c:pt>
              </c:strCache>
            </c:strRef>
          </c:tx>
          <c:spPr>
            <a:solidFill>
              <a:srgbClr val="E0911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Initial</c:v>
                </c:pt>
                <c:pt idx="1">
                  <c:v>Diagnose</c:v>
                </c:pt>
                <c:pt idx="2">
                  <c:v>Repair</c:v>
                </c:pt>
                <c:pt idx="3">
                  <c:v>Re-test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62</c:v>
                </c:pt>
                <c:pt idx="2">
                  <c:v>86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index</c:v>
                </c:pt>
              </c:strCache>
            </c:strRef>
          </c:tx>
          <c:spPr>
            <a:solidFill>
              <a:srgbClr val="E0911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Usage</c:v>
                </c:pt>
                <c:pt idx="1">
                  <c:v>Review</c:v>
                </c:pt>
                <c:pt idx="2">
                  <c:v>Rework</c:v>
                </c:pt>
                <c:pt idx="3">
                  <c:v>Accepted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34</c:v>
                </c:pt>
                <c:pt idx="2">
                  <c:v>27</c:v>
                </c:pt>
                <c:pt idx="3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https://github.com/tertiarycourses/TGS-2023041081-Agentic-AI-Applications-with-Codex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https://developers.openai.com/learn/codex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https://www.tertiarycourses.com.sg/wsq-agentic-ai-applications-with-codex.html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tertiarycourses/TGS-2023041081-Agentic-AI-Applications-with-Codex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chart" Target="../charts/char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chart" Target="../charts/char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chart" Target="../charts/char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Relationship Id="rId3" Type="http://schemas.openxmlformats.org/officeDocument/2006/relationships/chart" Target="../charts/chart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Relationship Id="rId3" Type="http://schemas.openxmlformats.org/officeDocument/2006/relationships/chart" Target="../charts/char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Relationship Id="rId3" Type="http://schemas.openxmlformats.org/officeDocument/2006/relationships/chart" Target="../charts/char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4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Relationship Id="rId3" Type="http://schemas.openxmlformats.org/officeDocument/2006/relationships/chart" Target="../charts/char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Relationship Id="rId3" Type="http://schemas.openxmlformats.org/officeDocument/2006/relationships/chart" Target="../charts/chart8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Relationship Id="rId3" Type="http://schemas.openxmlformats.org/officeDocument/2006/relationships/chart" Target="../charts/chart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5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Relationship Id="rId3" Type="http://schemas.openxmlformats.org/officeDocument/2006/relationships/chart" Target="../charts/chart10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Relationship Id="rId3" Type="http://schemas.openxmlformats.org/officeDocument/2006/relationships/chart" Target="../charts/chart1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Relationship Id="rId3" Type="http://schemas.openxmlformats.org/officeDocument/2006/relationships/chart" Target="../charts/chart1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253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NON-WSQ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528523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0D3056"/>
                </a:solidFill>
                <a:latin typeface="Arial"/>
              </a:rP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26080"/>
            <a:ext cx="5166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875C4"/>
                </a:solidFill>
                <a:latin typeface="Arial"/>
              </a:rPr>
              <a:t>Inspect → plan → act →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1480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C695  |  v1.0  |  1 day / 7.5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36592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577"/>
                </a:solidFill>
                <a:latin typeface="Arial"/>
              </a:rPr>
              <a:t>Tertiary Infotech Academy Pte. Ltd.
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69864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Mechanism-led courseware • Ten self-contained Codex labs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Trainer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Your trainer facilitates evidence-led AI application design and governed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Agentic workflow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Codex harness and context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Git, testing and browser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Technical evaluation and remediation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Dr Alfred 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Principal Trainer,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Doctorate-level applied technology educator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AI, data, cloud and automation curriculum leadership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Industry-oriented evaluation and implementation 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Focus: explainable, governed technical outcomes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Connect your existing role to one software or knowledge-work automation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Role and organisation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Current development or operations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One repeated process bottleneck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One risk you want the agent to control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Working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Use governed experimentation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Use synthetic or approved data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Never paste live secrets into prompts or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Keep consequential actions behind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Challenge completion claims with observable evidence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facts and delivery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C695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Commercial short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Course code: C695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Duration: 1 day / 7.5 instructional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Delivery: facilitated workshop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Version: v1.0 / 20 September 2026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Morning learning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Applicability, agentic loops and a bounded Codex control harness.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Codex surfaces, task lifecycle and prompt contracts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Strengths, limitations, accountability and fit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AGENTS.md, context, sandbox and approvals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Labs 01–05: baseline through worktree isolation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Afternoon learning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Extension surfaces, evaluation and governed adoption.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Tools, browser QA, MCP, skills and subagents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Headless and cloud automation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Golden tasks and comparative effectiveness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Labs 06–10 and governed capstone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Ten self-contained lab folders carry the complete end-to-end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Open the individual lab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only its supplied starter repository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Follow detailed steps in the Learner Guide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Record evidence in the folder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806440"/>
            <a:ext cx="8915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875C4"/>
                </a:solidFill>
                <a:latin typeface="Arial"/>
                <a:hlinkClick r:id="rId3"/>
              </a:rPr>
              <a:t>https://github.com/tertiarycourses/C695-Agentic-AI-Applications-with-Codex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Codex Surfaces, Agentic Loops and Applicability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Analyse where Codex fits, how a task travels through the agentic loop, and where human judgment remains essential.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mechanism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The Codex product surface: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CODEX COMMAND CENTRE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Repository and instruction scope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ABB7"/>
                </a:solidFill>
                <a:latin typeface="Arial"/>
              </a:rPr>
              <a:t>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Conversation, plan and progress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Reviewable file diff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Terminal and test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dex-command-center-concept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The Codex product surface: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Choose by data location, duration, isolation and collaboration need.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The Codex product surface: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Task-to-surface fit score across local, IDE, cloud and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Decision matrix plus selected surface rationale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Agentic task lifecycle: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Observe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Form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Act with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verification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reports completion without validating the changed system.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Agentic task lifecycle: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Make verification an explicit finish condition.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Agentic task lifecycle: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Verified task transitions / total task transitions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Plan, command trace, test result and final diff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Prompt as an execution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State 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done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objective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acceptance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vague request produces a broad or misdirected change.</a:t>
            </a:r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Prompt as an execution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Require observable acceptance checks and protected boundaries.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Prompt as an execution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Acceptance criteria satisfied on first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Prompt contract linked to passing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Repository reconnaissance: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Read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Map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Editing begins before local conventions or dependencies are understood.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Repository reconnaissance: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Front-load read-only inspection and instruction discovery.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Repository reconnaissance: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Relevant files inspected before first edit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Inspection log and scoped file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Tool-mediated reasoning: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tool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Execute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Read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Update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command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next_step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Repeated tool calls add noise without reducing uncertainty.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Tool-mediated reasoning: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Tie each call to one decision and stop when evidence is sufficient.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Tool-mediated reasoning: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Useful tool results / total tool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Tool result cited in the next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Local versus cloud execution: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Locate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duration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isolation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Dispatch task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data_zone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isolation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destination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Sensitive or stateful work is sent to an unsuitable environment.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Local versus cloud execution: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Select the execution boundary before attaching the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Local versus cloud execution: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Policy-compliant runs completed without relocation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Environment choice and policy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Parallel task decomposition: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Find seams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scopes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independently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Integrate outputs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dependency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worktree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merge_order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Agents modify the same files or depend on unfinished shared state.</a:t>
            </a:r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Parallel task decomposition: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Decompose only at dependency-light boundaries.</a:t>
            </a:r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Parallel task decomposition: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Parallel speed-up with zero overlapping 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Scope map, separate worktrees and integration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Strengths of coding agents: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Search broadly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Edit consistently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Summarise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summary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Speed is treated as quality despite weak review evidence.</a:t>
            </a:r>
          </a:p>
        </p:txBody>
      </p:sp>
    </p:spTree>
  </p:cSld>
  <p:transition spd="med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Strengths of coding agents: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Measure throughput and quality together.</a:t>
            </a:r>
          </a:p>
        </p:txBody>
      </p:sp>
    </p:spTree>
  </p:cSld>
  <p:transition spd="med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Strengths of coding agents: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Cycle time reduction at unchanged defect escape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Baseline versus assisted task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Limitations and uncertainty: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Detect ambiguity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Expose assumption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Seek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Escalate choice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unknown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assumption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decision_owner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silently invents project facts or permissions.</a:t>
            </a:r>
          </a:p>
        </p:txBody>
      </p:sp>
    </p:spTree>
  </p:cSld>
  <p:transition spd="med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Limitations and uncertainty: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uncertainty thresholds and explicit escalation points.</a:t>
            </a:r>
          </a:p>
        </p:txBody>
      </p:sp>
    </p:spTree>
  </p:cSld>
  <p:transition spd="med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Limitations and uncertainty: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Material assumptions surfaced before mutation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Assumption register with resolved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Human accountability boundary: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consequence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Prepare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Approve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risk_class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evidence_pack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approval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Automation crosses an external or destructive boundary unattended.</a:t>
            </a:r>
          </a:p>
        </p:txBody>
      </p:sp>
    </p:spTree>
  </p:cSld>
  <p:transition spd="med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Human accountability boundary: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Require current evidence and a named human before consequence.</a:t>
            </a:r>
          </a:p>
        </p:txBody>
      </p:sp>
    </p:spTree>
  </p:cSld>
  <p:transition spd="med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Human accountability boundary: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Consequential actions with named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Approval record bound to the reviewed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Applicability decision matrix: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fit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Recommend posture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fit_score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recommendation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showcase task is mistaken for a production-ready use case.</a:t>
            </a:r>
          </a:p>
        </p:txBody>
      </p:sp>
    </p:spTree>
  </p:cSld>
  <p:transition spd="med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Applicability decision matrix: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Score repeatability, verifiability, risk and integration cost.</a:t>
            </a:r>
          </a:p>
        </p:txBody>
      </p:sp>
    </p:spTree>
  </p:cSld>
  <p:transition spd="med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Applicability decision matrix: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Recommendation traceability to scored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Weighted matrix and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Applicability boundary: Codex, validator and accountable human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CODEX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Interpret task
Propose bounded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Run checks
Measure thresholds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Approve consequence
Own exception</a:t>
            </a:r>
          </a:p>
        </p:txBody>
      </p:sp>
    </p:spTree>
  </p:cSld>
  <p:transition spd="med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Task lifecycle: OBSERVE, PLAN, ACT and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OBSERVE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7ABB7"/>
                </a:solidFill>
                <a:latin typeface="Arial"/>
              </a:rPr>
              <a:t>PLAN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ACT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VERIFY closes the loop only when the requested state and checks agree.</a:t>
            </a:r>
          </a:p>
        </p:txBody>
      </p:sp>
    </p:spTree>
  </p:cSld>
  <p:transition spd="med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Task evidence chain: request → base → diff →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task_id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request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base_sha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starting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patch_sha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reviewed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result_id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verified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change is explainable when each identifier resolves to retrievable evidence.</a:t>
            </a:r>
          </a:p>
        </p:txBody>
      </p:sp>
    </p:spTree>
  </p:cSld>
  <p:transition spd="med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Limitation taxonomy: ambiguity, context, capability and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AMBIGUITY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expose assumption and clarify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inspect scoped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change surface or decompose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CONSEQUENCE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wait for named human</a:t>
            </a:r>
          </a:p>
        </p:txBody>
      </p:sp>
    </p:spTree>
  </p:cSld>
  <p:transition spd="med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Applicability rises with repeatability and verifiability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Codex fits best when the task is repeatable, bounded and objectively verifiable.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Verification coverage closes the completion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Completion is credible only when the request, changed state, checks and review remain connected.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Human ownership increases with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Human accountability rises as an action becomes external, destructive or otherwise consequential.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Repository Reconnaissance and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Inspect a TaskBoard repository, identify its instruction and test boundaries, and record a measurable baseline before any edit.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Baseline report and verified repository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labs/lab-01-repository-reconnaissance/</a:t>
            </a:r>
          </a:p>
        </p:txBody>
      </p:sp>
    </p:spTree>
  </p:cSld>
  <p:transition spd="med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Open repo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Read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Map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tests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Measure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Decide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report names the applicable instruction chain, test command, baseline result and scoped target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Prompt-to-Plan Feature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Turn an outcome contract into a bounded plan, implement one TaskBoard feature and verify the changed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Minimal patch, passing tests and decision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labs/lab-02-prompt-plan-feature/</a:t>
            </a:r>
          </a:p>
        </p:txBody>
      </p:sp>
    </p:spTree>
  </p:cSld>
  <p:transition spd="med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State 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Inspect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Write plan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Apply patch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checks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Review diff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diff is scoped, the new behavior is tested, all supplied tests pass and the final summary cites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Harness Design, Context, Sandbox and Process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Design a bounded Codex harness that turns project context, permissions and Git isolation into an efficient process.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mechanism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AGENTS.md instruction hierarchy: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Discover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Resolve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Apply nearest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root_rule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nested_rule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global rule overrides a more specific directory contract.</a:t>
            </a:r>
          </a:p>
        </p:txBody>
      </p:sp>
    </p:spTree>
  </p:cSld>
  <p:transition spd="med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AGENTS.md instruction hierarchy: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Resolve instructions from repository root to target file.</a:t>
            </a:r>
          </a:p>
        </p:txBody>
      </p:sp>
    </p:spTree>
  </p:cSld>
  <p:transition spd="med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AGENTS.md instruction hierarchy: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Edits compliant with the nearest applicable instruction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Instruction chain and compliant 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Context budget engineering: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Load essentials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Summarise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Discard noise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Refresh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essential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noise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refresh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Large logs and irrelevant files crowd out constraints.</a:t>
            </a:r>
          </a:p>
        </p:txBody>
      </p:sp>
    </p:spTree>
  </p:cSld>
  <p:transition spd="med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Context budget engineering: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Load progressively and summarise before expanding scope.</a:t>
            </a:r>
          </a:p>
        </p:txBody>
      </p:sp>
    </p:spTree>
  </p:cSld>
  <p:transition spd="med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Context budget engineering: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Decision-relevant context / total loaded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Compact context ledger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Planning and checkpoints: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Decompose 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Order dependencies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Mark checkpoint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Re-plan from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checkpoint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long task drifts because the plan never incorporates new evidence.</a:t>
            </a:r>
          </a:p>
        </p:txBody>
      </p:sp>
    </p:spTree>
  </p:cSld>
  <p:transition spd="med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Planning and checkpoints: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Update the plan at material state changes.</a:t>
            </a:r>
          </a:p>
        </p:txBody>
      </p:sp>
    </p:spTree>
  </p:cSld>
  <p:transition spd="med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Planning and checkpoints: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Completed checkpoints with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Plan history and checkpoint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Configuration layers: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Read defaults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Apply user config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Apply project config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Confirm effective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default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effective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hidden configuration override changes model or permission behavior.</a:t>
            </a:r>
          </a:p>
        </p:txBody>
      </p:sp>
    </p:spTree>
  </p:cSld>
  <p:transition spd="med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Configuration layers: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Expose configuration precedence and validate the effective state.</a:t>
            </a:r>
          </a:p>
        </p:txBody>
      </p:sp>
    </p:spTree>
  </p:cSld>
  <p:transition spd="med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Configuration layers: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Configuration values with known provenance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Resolved configuration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Sandbox policy: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resource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Execute bounded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Audit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permission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command modifies data outside the learner or project scope.</a:t>
            </a:r>
          </a:p>
        </p:txBody>
      </p:sp>
    </p:spTree>
  </p:cSld>
  <p:transition spd="med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Sandbox policy: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the narrowest filesystem and network permissions that work.</a:t>
            </a:r>
          </a:p>
        </p:txBody>
      </p:sp>
    </p:spTree>
  </p:cSld>
  <p:transition spd="med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Sandbox policy: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Writes contained within the approved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Sandbox policy and audited path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Approval design: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Detect boundary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Explain command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Resume or stop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justification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Repeated or vague approvals train users to click through.</a:t>
            </a:r>
          </a:p>
        </p:txBody>
      </p:sp>
    </p:spTree>
  </p:cSld>
  <p:transition spd="med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Approval design: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Ask only at real boundaries with exact targets and effects.</a:t>
            </a:r>
          </a:p>
        </p:txBody>
      </p:sp>
    </p:spTree>
  </p:cSld>
  <p:transition spd="med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Approval design: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Approval prompts that identify exact consequence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Approval decision tied to command and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Git worktree isolation: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worktree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Edit independently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Integrate commit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base_sha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branch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commit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Concurrent changes share one checkout and overwrite state.</a:t>
            </a:r>
          </a:p>
        </p:txBody>
      </p:sp>
    </p:spTree>
  </p:cSld>
  <p:transition spd="med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Git worktree isolation: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Allocate one worktree and branch per independent mutation stream.</a:t>
            </a:r>
          </a:p>
        </p:txBody>
      </p:sp>
    </p:spTree>
  </p:cSld>
  <p:transition spd="med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Git worktree isolation: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Parallel tasks integrated without working-tree collision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Distinct paths, branches and commit SHAs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Patch discipline: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PATCH REVIEW SURFACE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Read target and working state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ABB7"/>
                </a:solidFill>
                <a:latin typeface="Arial"/>
              </a:rPr>
              <a:t>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Change the smallest causal layer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Review removed and added lines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Run focused and regression checks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dex-terminal-diff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Patch discipline: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Prefer minimal, reviewable patches and preserve unrelated state.</a:t>
            </a:r>
          </a:p>
        </p:txBody>
      </p:sp>
    </p:spTree>
  </p:cSld>
  <p:transition spd="med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Patch discipline: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Changed lines that directly serve acceptance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Scoped diff and focused test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Command safety: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Resolve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Quote arguments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non-destructive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Perform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arguments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preflight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Globs, substitutions or broad paths expand unexpectedly.</a:t>
            </a:r>
          </a:p>
        </p:txBody>
      </p:sp>
    </p:spTree>
  </p:cSld>
  <p:transition spd="med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Command safety: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Resolve explicit targets and prefer recoverable operations.</a:t>
            </a:r>
          </a:p>
        </p:txBody>
      </p:sp>
    </p:spTree>
  </p:cSld>
  <p:transition spd="med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Command safety: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Potentially destructive commands preceded by exact target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Preflight listing and action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Process baseline: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Map current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delay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Locate rework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intervention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cycle_time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intervention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Improvement is claimed without a pre-assistance baseline.</a:t>
            </a:r>
          </a:p>
        </p:txBody>
      </p:sp>
    </p:spTree>
  </p:cSld>
  <p:transition spd="med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Process baseline: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Measure the existing process before introducing Codex.</a:t>
            </a:r>
          </a:p>
        </p:txBody>
      </p:sp>
    </p:spTree>
  </p:cSld>
  <p:transition spd="med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Process baseline: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Baseline cycle time and defect rate captured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Baseline map and observed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Efficiency without control loss: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Automate repeatable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Keep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result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Adjust 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Efficiency removes the review step that detected material defects.</a:t>
            </a:r>
          </a:p>
        </p:txBody>
      </p:sp>
    </p:spTree>
  </p:cSld>
  <p:transition spd="med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Efficiency without control loss: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Automate preparation and checking while retaining consequential gates.</a:t>
            </a:r>
          </a:p>
        </p:txBody>
      </p:sp>
    </p:spTree>
  </p:cSld>
  <p:transition spd="med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Efficiency without control loss: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Cycle-time gain with equal or better verification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Before/after measures and unchanged control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Harness boundary: instructions, sandbox and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Resolve nearest
repository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SANDBOX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Contain files
and 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Name target
and consequence</a:t>
            </a:r>
          </a:p>
        </p:txBody>
      </p:sp>
    </p:spTree>
  </p:cSld>
  <p:transition spd="med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Working-state model: CLEAN, ISOLATED, CHANGED and VERIFIED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CLEAN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ISOLATED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CHANGED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7ABB7"/>
                </a:solidFill>
                <a:latin typeface="Arial"/>
              </a:rPr>
              <a:t>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VERIFIED means the isolated change passed focused and regression checks.</a:t>
            </a:r>
          </a:p>
        </p:txBody>
      </p:sp>
    </p:spTree>
  </p:cSld>
  <p:transition spd="med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Repository evidence chain: instruction → base SHA → patch →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rule_scope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instruction basis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base_sha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clean starting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commit_sha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isolated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test_run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verification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Repository evidence preserves instruction, isolation, change and verification.</a:t>
            </a:r>
          </a:p>
        </p:txBody>
      </p:sp>
    </p:spTree>
  </p:cSld>
  <p:transition spd="med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Control taxonomy: context, permission, collision and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load the applicable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PERMISSION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reduce scope or approve exactly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COLLISION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isolate with a worktree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REGRESSION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and re-run checks</a:t>
            </a:r>
          </a:p>
        </p:txBody>
      </p:sp>
    </p:spTree>
  </p:cSld>
  <p:transition spd="med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Bounded context improves useful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Context quality rises when inspection narrows evidence for the next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Isolation reduces parallel-edit collision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Worktrees help, but exclusive file ownership provides the strongest collision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Least privilege contains action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The narrowest workable permission posture reduces accidental exposure.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Scoped AGENTS.md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Design root and nested instructions, then verify that a task applies the nearest rule without conflicting with repository 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Two-level instruction hierarchy and compliance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labs/lab-03-agents-hierarchy/</a:t>
            </a:r>
          </a:p>
        </p:txBody>
      </p:sp>
    </p:spTree>
  </p:cSld>
  <p:transition spd="med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Read root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Read nested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Resolve 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Execute task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Inspect diff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Record trace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trace distinguishes root and nested rules and the patch complies with both in the correct precedence.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Sandbox and Approval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Compare read-only, workspace-write and approval boundaries using safe commands and an explicit consequence matrix.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Permission experiment log and recommended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labs/lab-04-sandbox-approval/</a:t>
            </a:r>
          </a:p>
        </p:txBody>
      </p:sp>
    </p:spTree>
  </p:cSld>
  <p:transition spd="med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Classify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sandbox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probe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Observe block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Request approval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Recommend policy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log contains safe probes for three permission cases and a least-privilege recommendation supported by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05 · Parallel Worktrees without Collision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Split two independent TaskBoard changes into isolated worktrees and integrate them in a controlled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Isolation map, two commits and integration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labs/lab-05-parallel-worktrees/</a:t>
            </a:r>
          </a:p>
        </p:txBody>
      </p:sp>
    </p:spTree>
  </p:cSld>
  <p:transition spd="med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05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Find seams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Create branches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Create worktrees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tasks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Test commits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Integrate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05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worktrees use distinct paths and branches, produce separate commits, and integrate with the full test suite passing.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Tools, Skills, MCP, Subagents and Cloud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Apply the Codex extension surface to implement repeatable, observable and portable agent workflows.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mechanism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Terminal and file tools: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operation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Apply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 bytes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operation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checksum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Generated content bypasses project conventions or corrupts unrelated files.</a:t>
            </a:r>
          </a:p>
        </p:txBody>
      </p:sp>
    </p:spTree>
  </p:cSld>
  <p:transition spd="med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Terminal and file tools: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targeted search, patch and verification tools.</a:t>
            </a:r>
          </a:p>
        </p:txBody>
      </p:sp>
    </p:spTree>
  </p:cSld>
  <p:transition spd="med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Terminal and file tools: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File operations with explicit before-and-after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Diff plus test or checksum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Browser-based verification: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BROWSER EVIDENCE SURFACE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Exercise the real user journey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ABB7"/>
                </a:solidFill>
                <a:latin typeface="Arial"/>
              </a:rPr>
              <a:t>VIEWPORT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Check desktop and mobile state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DEFECT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Capture reproducible failure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RE-TEST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Prove the scoped repair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rowser-qa-dashboard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Browser-based verification: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Pair implementation tests with real-browser evidence.</a:t>
            </a:r>
          </a:p>
        </p:txBody>
      </p:sp>
    </p:spTree>
  </p:cSld>
  <p:transition spd="med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Browser-based verification: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Critical user paths verified at target viewport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Browser trace and screenshot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Model Context Protocol: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Declare capability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Call typed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Validate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An over-privileged server exposes unnecessary data or actions.</a:t>
            </a:r>
          </a:p>
        </p:txBody>
      </p:sp>
    </p:spTree>
  </p:cSld>
  <p:transition spd="med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Model Context Protocol: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Install only required servers and constrain their permissions.</a:t>
            </a:r>
          </a:p>
        </p:txBody>
      </p:sp>
    </p:spTree>
  </p:cSld>
  <p:transition spd="med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Model Context Protocol: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MCP calls returning schema-valid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Server inventory, call trace and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Plugins and packaged capability: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bundle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Check 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Enable component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boundary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manifest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component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plugin is trusted solely because it is convenient.</a:t>
            </a:r>
          </a:p>
        </p:txBody>
      </p:sp>
    </p:spTree>
  </p:cSld>
  <p:transition spd="med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Plugins and packaged capability: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Review source, permissions and dependencies before enabling.</a:t>
            </a:r>
          </a:p>
        </p:txBody>
      </p:sp>
    </p:spTree>
  </p:cSld>
  <p:transition spd="med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Plugins and packaged capability: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Enabled capabilities with reviewed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Manifest review and bounded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Reusable skills: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Write 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Encode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resources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near-miss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description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instructions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evaluation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broad description hijacks unrelated tasks.</a:t>
            </a:r>
          </a:p>
        </p:txBody>
      </p:sp>
    </p:spTree>
  </p:cSld>
  <p:transition spd="med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Reusable skills: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narrow triggers and verify both trigger and non-trigger cases.</a:t>
            </a:r>
          </a:p>
        </p:txBody>
      </p:sp>
    </p:spTree>
  </p:cSld>
  <p:transition spd="med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Reusable skills: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Trigger precision across positive and near-miss prompts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Skill package plus evaluation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Subagent delegation: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bounded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Fork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Work independently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Return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subagent lacks required context or edits shared files unexpectedly.</a:t>
            </a:r>
          </a:p>
        </p:txBody>
      </p:sp>
    </p:spTree>
  </p:cSld>
  <p:transition spd="med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Subagent delegation: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Delegate concrete, dependency-light work with explicit deliverables.</a:t>
            </a:r>
          </a:p>
        </p:txBody>
      </p:sp>
    </p:spTree>
  </p:cSld>
  <p:transition spd="med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Subagent delegation: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Delegated tasks completed without scope overlap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Task brief and returned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Hooks and lifecycle checks: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Detect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Return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Block or continue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hook is noisy, slow or silently ignored.</a:t>
            </a:r>
          </a:p>
        </p:txBody>
      </p:sp>
    </p:spTree>
  </p:cSld>
  <p:transition spd="med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Hooks and lifecycle checks: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Keep hooks deterministic, fast and fail-closed for material rules.</a:t>
            </a:r>
          </a:p>
        </p:txBody>
      </p:sp>
    </p:spTree>
  </p:cSld>
  <p:transition spd="med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Hooks and lifecycle checks: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Policy violations blocked before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Hook output and blocked test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Headless codex exec: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Provide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output mode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Stream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Exit by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jsonl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exit_code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Human-oriented output is parsed as if it were a stable API.</a:t>
            </a:r>
          </a:p>
        </p:txBody>
      </p:sp>
    </p:spTree>
  </p:cSld>
  <p:transition spd="med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Headless codex exec: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structured JSON events and explicit finish conditions.</a:t>
            </a:r>
          </a:p>
        </p:txBody>
      </p:sp>
    </p:spTree>
  </p:cSld>
  <p:transition spd="med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Headless codex exec: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Machine-readable runs with reliable non-zero failure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JSONL event log and process exit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Cloud environments: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Connect 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Configure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isolated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Review diff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environment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diff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Undeclared dependencies make remote results non-reproducible.</a:t>
            </a:r>
          </a:p>
        </p:txBody>
      </p:sp>
    </p:spTree>
  </p:cSld>
  <p:transition spd="med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Cloud environments: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Pin setup steps, environment variables and safe secrets.</a:t>
            </a:r>
          </a:p>
        </p:txBody>
      </p:sp>
    </p:spTree>
  </p:cSld>
  <p:transition spd="med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Cloud environments: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Cloud tasks reproducible from declared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Environment config and cloud task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Background and scheduled work: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cadence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project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Route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notification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Automation creates noisy tasks or mutates state without review.</a:t>
            </a:r>
          </a:p>
        </p:txBody>
      </p:sp>
    </p:spTree>
  </p:cSld>
  <p:transition spd="med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Background and scheduled work: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bounded prompts, idempotency and appropriate notification policy.</a:t>
            </a:r>
          </a:p>
        </p:txBody>
      </p:sp>
    </p:spTree>
  </p:cSld>
  <p:transition spd="med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Background and scheduled work: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Scheduled runs producing actionable, non-duplicate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Run history and action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Portable agent workflow: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Declare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Bundle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across surface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Compare outputs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comparison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workflow depends on hidden local state.</a:t>
            </a:r>
          </a:p>
        </p:txBody>
      </p:sp>
    </p:spTree>
  </p:cSld>
  <p:transition spd="med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Portable agent workflow: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Move requirements into versioned repository artifacts.</a:t>
            </a:r>
          </a:p>
        </p:txBody>
      </p:sp>
    </p:spTree>
  </p:cSld>
  <p:transition spd="med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Portable agent workflow: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Equivalent acceptance results across supported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Portable repository and cross-surface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Extension boundary: skill, tool server and human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Trigger reusable
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Execute typed
capability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Review privilege
and result</a:t>
            </a:r>
          </a:p>
        </p:txBody>
      </p:sp>
    </p:spTree>
  </p:cSld>
  <p:transition spd="med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Automation state: QUEUED, RUNNING, BLOCKED and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QUEUED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7ABB7"/>
                </a:solidFill>
                <a:latin typeface="Arial"/>
              </a:rPr>
              <a:t>RUNNING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93E36"/>
                </a:solidFill>
                <a:latin typeface="Arial"/>
              </a:rPr>
              <a:t>BLOCKED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COMPLETE requires a typed result, retrievable artifact and reliable exit status.</a:t>
            </a:r>
          </a:p>
        </p:txBody>
      </p:sp>
    </p:spTree>
  </p:cSld>
  <p:transition spd="med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Tool evidence chain: request → event → artifact → exit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typed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event_id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observable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artifact_id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retrievable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exit_code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machine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Portable automation exposes typed inputs, events, artifacts and status.</a:t>
            </a:r>
          </a:p>
        </p:txBody>
      </p:sp>
    </p:spTree>
  </p:cSld>
  <p:transition spd="med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Extension taxonomy: trigger, schema, privilege and portability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narrow the skill 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SCHEMA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typed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PRIVILEGE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disable and review capability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PORTABILITY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version hidden dependencies</a:t>
            </a:r>
          </a:p>
        </p:txBody>
      </p:sp>
    </p:spTree>
  </p:cSld>
  <p:transition spd="med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Skill precision improves after near-miss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 reusable skill needs both trigger and near-miss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Structured events improve automation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Machine-readable events turn a chat workflow into an observable automation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Extension privilege expands review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More capable extensions require proportionally stronger permission and dependency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06 · Browser QA with Playwright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Verify a local TaskBoard dashboard through a real browser and convert one visible defect into reproducible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Browser trace, screenshot and verified repair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labs/lab-06-browser-qa/</a:t>
            </a:r>
          </a:p>
        </p:txBody>
      </p:sp>
    </p:spTree>
  </p:cSld>
  <p:transition spd="med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06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Serve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Open 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Exercise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Capture defect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Repair UI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Re-test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06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evidence includes pre-repair failure, scoped patch and passing desktop/mobile re-test.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07 · Build and Evaluate a Codex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Package a test-triage workflow as a reusable skill and measure trigger precision with positive and near-miss prompts.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Skill package and trigger evaluation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labs/lab-07-reusable-skill/</a:t>
            </a:r>
          </a:p>
        </p:txBody>
      </p:sp>
    </p:spTree>
  </p:cSld>
  <p:transition spd="med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07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Write skill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template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positive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near-miss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Refine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07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skill passes structural checks and its evaluation shows correct trigger and near-miss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08 · Headless Codex Exec for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Design a non-interactive Codex run that emits machine-readable events and fails safely when acceptance checks fail.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CI-safe command wrapper and JSONL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labs/lab-08-headless-exec/</a:t>
            </a:r>
          </a:p>
        </p:txBody>
      </p:sp>
    </p:spTree>
  </p:cSld>
  <p:transition spd="med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08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task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Choose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exec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Parse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Check exit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Archive evidence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08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wrapper avoids embedded secrets, records structured events and distinguishes success from failure by exit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Evaluation, Comparative Effectiveness and Governed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Evaluate Codex workflows with golden tasks, risk-adjusted measures and a defensible adoption recommendation.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mechanism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Evaluation question design: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criterion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measure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threshold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criterion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threshold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Metrics are collected because they are available, not decision-relevant.</a:t>
            </a:r>
          </a:p>
        </p:txBody>
      </p:sp>
    </p:spTree>
  </p:cSld>
  <p:transition spd="med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Evaluation question design: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Start from the adoption or remediation decision.</a:t>
            </a:r>
          </a:p>
        </p:txBody>
      </p:sp>
    </p:spTree>
  </p:cSld>
  <p:transition spd="med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Evaluation question design: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Criteria with decision-linked 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Evaluation charter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Golden task suite: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GOLDEN-TASK DASHBOARD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Score accepted outcomes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RELIABLE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Repeat and measure variance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EFFICIENT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Track latency and full cost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Bind risk to a human posture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valuation-dashboard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Golden task suite: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a stratified task set including edge and failure cases.</a:t>
            </a:r>
          </a:p>
        </p:txBody>
      </p:sp>
    </p:spTree>
  </p:cSld>
  <p:transition spd="med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Golden task suite: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Representative tasks passing repeatable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Versioned fixtures and run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Functional correctness: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Review diff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Re-test repair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diff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passing unit suite misses visible or integration defects.</a:t>
            </a:r>
          </a:p>
        </p:txBody>
      </p:sp>
    </p:spTree>
  </p:cSld>
  <p:transition spd="med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Functional correctness: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Combine automated, browser and human review criteria.</a:t>
            </a:r>
          </a:p>
        </p:txBody>
      </p:sp>
    </p:spTree>
  </p:cSld>
  <p:transition spd="med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Functional correctness: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Passed required checks / total required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Test report, observed behavior and diff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Reliability and variance: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Repeat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Capture outcome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variance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Investigate cause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repetitions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outcomes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variance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cause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One successful run is treated as stable performance.</a:t>
            </a:r>
          </a:p>
        </p:txBody>
      </p:sp>
    </p:spTree>
  </p:cSld>
  <p:transition spd="med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Reliability and variance: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Repeat representative tasks under controlled conditions.</a:t>
            </a:r>
          </a:p>
        </p:txBody>
      </p:sp>
    </p:spTree>
  </p:cSld>
  <p:transition spd="med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Reliability and variance: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Success rate and outcome variance over repeated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Run series and variance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Latency and throughput: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Timestamp 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stages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Locate bottleneck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Re-test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bottleneck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Faster output increases rework or reviewer load.</a:t>
            </a:r>
          </a:p>
        </p:txBody>
      </p:sp>
    </p:spTree>
  </p:cSld>
  <p:transition spd="med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Latency and throughput: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Pair speed measures with defect and review effort.</a:t>
            </a:r>
          </a:p>
        </p:txBody>
      </p:sp>
    </p:spTree>
  </p:cSld>
  <p:transition spd="med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Latency and throughput: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Median completion time and useful tasks per hour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Stage timings and quality-adjusted throughput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Cost and resource efficiency: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Count usage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Value reviewer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rework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Compare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review_time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Token or subscription cost is measured without human correction time.</a:t>
            </a:r>
          </a:p>
        </p:txBody>
      </p:sp>
    </p:spTree>
  </p:cSld>
  <p:transition spd="med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Cost and resource efficiency: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fully loaded cost per accepted outcome.</a:t>
            </a:r>
          </a:p>
        </p:txBody>
      </p:sp>
    </p:spTree>
  </p:cSld>
  <p:transition spd="med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Cost and resource efficiency: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Total cost per accepted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Cost model and sensitivity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Security and privacy evaluation: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Map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Probe boundary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residual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boundary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Secrets, personal data or proprietary code leak through tools or evidence.</a:t>
            </a:r>
          </a:p>
        </p:txBody>
      </p:sp>
    </p:spTree>
  </p:cSld>
  <p:transition spd="med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Security and privacy evaluation: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least privilege, redaction and explicit retention rules.</a:t>
            </a:r>
          </a:p>
        </p:txBody>
      </p:sp>
    </p:spTree>
  </p:cSld>
  <p:transition spd="med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Security and privacy evaluation: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Material risks with tested controls and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Threat model, probe results and risk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Comparative experiment: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Hold task constant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alternatives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Interpret trade-off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alternatives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tradeoff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Different tasks or reviewers invalidate the comparison.</a:t>
            </a:r>
          </a:p>
        </p:txBody>
      </p:sp>
    </p:spTree>
  </p:cSld>
  <p:transition spd="med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Comparative experiment: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controlled paired trials and document confounders.</a:t>
            </a:r>
          </a:p>
        </p:txBody>
      </p:sp>
    </p:spTree>
  </p:cSld>
  <p:transition spd="med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Comparative experiment: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Paired results across identical tasks and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Comparison table and caveat register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Failure taxonomy and repair: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Find locus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Apply scoped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Re-run affected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broad retry hides the cause and changes unrelated behavior.</a:t>
            </a:r>
          </a:p>
        </p:txBody>
      </p:sp>
    </p:spTree>
  </p:cSld>
  <p:transition spd="med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Failure taxonomy and repair: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Repair the smallest causal layer and re-test scope plus regression set.</a:t>
            </a:r>
          </a:p>
        </p:txBody>
      </p:sp>
    </p:spTree>
  </p:cSld>
  <p:transition spd="med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Failure taxonomy and repair: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Repairs that close the failed criterion without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Failure record, patch and re-test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Adoption readiness: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Aggregate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Identify gaps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posture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control_score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recommendation ignores operating ownership and maintenance cost.</a:t>
            </a:r>
          </a:p>
        </p:txBody>
      </p:sp>
    </p:spTree>
  </p:cSld>
  <p:transition spd="med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Adoption readiness: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Evaluate people, process, technology and governance together.</a:t>
            </a:r>
          </a:p>
        </p:txBody>
      </p:sp>
    </p:spTree>
  </p:cSld>
  <p:transition spd="med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Adoption readiness: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Readiness score supported by retrievable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Readiness scorecard and gap owners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Governed recommendation: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Summarise benefit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State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Approve next step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binary adopt/reject decision hides scope and safeguards.</a:t>
            </a:r>
          </a:p>
        </p:txBody>
      </p:sp>
    </p:spTree>
  </p:cSld>
  <p:transition spd="med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Governed recommendation: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Recommend a bounded posture: pilot, expand, hold or stop.</a:t>
            </a:r>
          </a:p>
        </p:txBody>
      </p:sp>
    </p:spTree>
  </p:cSld>
  <p:transition spd="med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Governed recommendation: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Recommendation accepted with conditions and review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Signed recommendation with 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task, changed state and decision—not in an unsupported chat claim.</a:t>
            </a:r>
          </a:p>
        </p:txBody>
      </p:sp>
    </p:spTree>
  </p:cSld>
  <p:transition spd="med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Evaluation boundary: model output, deterministic score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Produce task
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SCORER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Measure fixed
criteria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DECIDER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Choose bounded
adoption posture</a:t>
            </a:r>
          </a:p>
        </p:txBody>
      </p:sp>
    </p:spTree>
  </p:cSld>
  <p:transition spd="med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Adoption state: PILOT, EXPAND, HOLD and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PILOT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EXPAND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HOLD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93E36"/>
                </a:solidFill>
                <a:latin typeface="Arial"/>
              </a:rPr>
              <a:t>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The adoption posture records evidence, conditions, owner and review date.</a:t>
            </a:r>
          </a:p>
        </p:txBody>
      </p:sp>
    </p:spTree>
  </p:cSld>
  <p:transition spd="med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Evaluation chain: fixture → run → metric →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fixture_id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frozen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candidate outcome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metric_set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scored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decision_id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human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recommendation is defensible when every score resolves to a frozen task and run.</a:t>
            </a:r>
          </a:p>
        </p:txBody>
      </p:sp>
    </p:spTree>
  </p:cSld>
  <p:transition spd="med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Failure taxonomy: correctness, variance, efficiency and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CORRECTNESS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causal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VARIANCE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repeat controlled trials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EFFICIENCY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optimise without gate loss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hold for accountable decision</a:t>
            </a:r>
          </a:p>
        </p:txBody>
      </p:sp>
    </p:spTree>
  </p:cSld>
  <p:transition spd="med">
    <p:fade/>
  </p:transition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Golden-task coverage reduces decision uncertainty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Representative core, edge and failure cases make an adoption decision more defensible.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Scoped repair raises accepted-task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Targeted repair should improve the failed criterion without changing frozen expectations.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Fully loaded cost reveals hidden review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Human review and rework belong in the cost of an accepted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09 · Golden-Task Evaluation 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Run a repeatable golden-task suite and calculate correctness, reliability, latency and cost-per-accepted-task.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Evaluation report with reproducible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labs/lab-09-evaluation-harness/</a:t>
            </a:r>
          </a:p>
        </p:txBody>
      </p:sp>
    </p:spTree>
  </p:cSld>
  <p:transition spd="med">
    <p:fade/>
  </p:transition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09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Load fixtures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candidate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Score criteria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Repeat trials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Calculate metrics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Diagnose failure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09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report is reproducible, includes at least four decision-relevant metrics and links each failure to a fixture.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10 · Capstone: Governed Codex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Deliver a bounded TaskBoard improvement, evaluate it against the baseline and make a pilot, expand, hold or stop recommendation.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Working change, evidence pack and governed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labs/lab-10-capstone-governed-adoption/</a:t>
            </a:r>
          </a:p>
        </p:txBody>
      </p:sp>
    </p:spTree>
  </p:cSld>
  <p:transition spd="med">
    <p:fade/>
  </p:transition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10 · Codex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Frame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Configure harness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Implement 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Verify outcome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Compare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Recommend posture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10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solution works, the evidence pack covers correctness, efficiency and risk, and the recommendation states limits, controls, owner and review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4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4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END-TO-END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achievement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1080820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508760"/>
            <a:ext cx="493776" cy="49377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08760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481328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LO1 Analyse agentic AI applications, their strengths, limitations and suitability for a work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51176"/>
            <a:ext cx="1080820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706624"/>
            <a:ext cx="493776" cy="49377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06624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679192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LO2 Correlate agent-control design with algorithm efficiency and evaluate the resulting process improvement.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08208" cy="8412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904487"/>
            <a:ext cx="493776" cy="49377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04487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877055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LO3 Assess methods for evaluating the effectiveness, safety and reliability of Codex-enabled workflows.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46904"/>
            <a:ext cx="10808208" cy="84124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5102352"/>
            <a:ext cx="493776" cy="49377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02352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5074920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LO4 Evaluate comparative effectiveness and recommend a governed Codex implementation using observable evidence.</a:t>
            </a:r>
          </a:p>
        </p:txBody>
      </p:sp>
    </p:spTree>
  </p:cSld>
  <p:transition spd="med">
    <p:fade/>
  </p:transition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Codex controls that must remain intact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213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Automation is complete only when governance travels with the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Every instruction resolves to an applicable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reviewed change resolves to a diff and base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consequential action has a named human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completion claim resolves to verification evidence</a:t>
            </a:r>
          </a:p>
        </p:txBody>
      </p:sp>
    </p:spTree>
  </p:cSld>
  <p:transition spd="med">
    <p:fade/>
  </p:transition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Applications with Codex  •  C695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214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Share specific feedback that helps improve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Technical depth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Lab usefulness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Pacing and clarity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One improvement suggestion</a:t>
            </a:r>
          </a:p>
        </p:txBody>
      </p:sp>
    </p:spTree>
  </p:cSld>
  <p:transition spd="med">
    <p:fade/>
  </p:transition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</a:rPr>
              <a:t>Build Codex workflows that can prove what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23744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7ABB7"/>
                </a:solidFill>
                <a:latin typeface="Arial"/>
              </a:rPr>
              <a:t>Evidence before completion  •  Human approval before consequence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52928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10912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68896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81328" y="3493008"/>
            <a:ext cx="1335024" cy="13350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INSPECT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3493008"/>
            <a:ext cx="1335024" cy="13350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4" name="Oval 13"/>
          <p:cNvSpPr/>
          <p:nvPr/>
        </p:nvSpPr>
        <p:spPr>
          <a:xfrm>
            <a:off x="5797296" y="3493008"/>
            <a:ext cx="1335024" cy="13350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3493008"/>
            <a:ext cx="1335024" cy="13350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513832"/>
            <a:ext cx="9738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Dr Alfred Ang  |  Tertiary Infotech Academy Pte. Ltd.</a:t>
            </a:r>
          </a:p>
          <a:p>
            <a:r>
              <a:rPr sz="1300" b="0">
                <a:latin typeface="Arial"/>
              </a:rPr>
              <a:t>C695  •  v1.0  •  20 September 2026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Codex</dc:title>
  <dc:subject>TGS-2023041081 • AER-TEM-4026-1.1 Artificial Intelligence Application</dc:subject>
  <dc:creator>Tertiary Infotech Academy Pte. Ltd.</dc:creator>
  <cp:keywords/>
  <dc:description>Highly visual mechanism-led WSQ courseware; detailed procedures are in the Learner Guide and lab PDFs.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