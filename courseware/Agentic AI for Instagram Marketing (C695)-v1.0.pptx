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Agentic AI for Instagram Marketing (C695)</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C695</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3 August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Course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Digital marketing and applied AI practitioner</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Instagram marketing, digital advertising, analytics, and applied AI workflows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role, and the Instagram Professional account or business context you support.</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One Instagram content, community, or reporting task that currently takes too much time.</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One public-facing or budget decision you would never allow an AI agent to make without approval.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Agent foundations, prompting, Instagram content, and scheduling</a:t>
            </a:r>
          </a:p>
          <a:p>
            <a:pPr>
              <a:spcAft>
                <a:spcPts val="1000"/>
              </a:spcAft>
            </a:pPr>
            <a:r>
              <a:rPr sz="1400" b="0">
                <a:solidFill>
                  <a:srgbClr val="5B6372"/>
                </a:solidFill>
                <a:latin typeface="Arial"/>
              </a:rPr>
              <a:t>–  Topic 1: Foundations of Agentic AI for Instagram Marketing (Labs 1–2)</a:t>
            </a:r>
          </a:p>
          <a:p>
            <a:pPr>
              <a:spcAft>
                <a:spcPts val="1000"/>
              </a:spcAft>
            </a:pPr>
            <a:r>
              <a:rPr sz="1400" b="0">
                <a:solidFill>
                  <a:srgbClr val="5B6372"/>
                </a:solidFill>
                <a:latin typeface="Arial"/>
              </a:rPr>
              <a:t>–  Topic 2: AI-Powered Content Creation and Scheduling (Labs 3–4)</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Community automation, analytics, ads, and governed optimisation</a:t>
            </a:r>
          </a:p>
          <a:p>
            <a:pPr>
              <a:spcAft>
                <a:spcPts val="1000"/>
              </a:spcAft>
            </a:pPr>
            <a:r>
              <a:rPr sz="1400" b="0">
                <a:solidFill>
                  <a:srgbClr val="5B6372"/>
                </a:solidFill>
                <a:latin typeface="Arial"/>
              </a:rPr>
              <a:t>–  Topic 3: Automating Engagement and Community Management (Labs 5–6)</a:t>
            </a:r>
          </a:p>
          <a:p>
            <a:pPr>
              <a:spcAft>
                <a:spcPts val="1000"/>
              </a:spcAft>
            </a:pPr>
            <a:r>
              <a:rPr sz="1400" b="0">
                <a:solidFill>
                  <a:srgbClr val="5B6372"/>
                </a:solidFill>
                <a:latin typeface="Arial"/>
              </a:rPr>
              <a:t>–  Topic 4: Analytics, Ads and Optimisation with AI Agents (Labs 7–8)</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9:00 am - 6:00 pm (1-hour lunch; two 15-minute tea breaks)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Foundations</a:t>
            </a:r>
          </a:p>
          <a:p>
            <a:pPr algn="l">
              <a:spcAft>
                <a:spcPts val="300"/>
              </a:spcAft>
            </a:pPr>
            <a:r>
              <a:rPr sz="1300" b="0">
                <a:solidFill>
                  <a:srgbClr val="5B6372"/>
                </a:solidFill>
                <a:latin typeface="Arial"/>
              </a:rPr>
              <a:t>Explain AI agents and map an Instagram customer journey, account readiness, tools, prompts, evidence, and human approval gates.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Content System</a:t>
            </a:r>
          </a:p>
          <a:p>
            <a:pPr algn="l">
              <a:spcAft>
                <a:spcPts val="300"/>
              </a:spcAft>
            </a:pPr>
            <a:r>
              <a:rPr sz="1300" b="0">
                <a:solidFill>
                  <a:srgbClr val="5B6372"/>
                </a:solidFill>
                <a:latin typeface="Arial"/>
              </a:rPr>
              <a:t>Generate an on-brand Instagram content system with captions, hashtags, image and Reels briefs, a calendar, and a controlled publishing workflow.</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Community Workflow</a:t>
            </a:r>
          </a:p>
          <a:p>
            <a:pPr algn="l">
              <a:spcAft>
                <a:spcPts val="300"/>
              </a:spcAft>
            </a:pPr>
            <a:r>
              <a:rPr sz="1300" b="0">
                <a:solidFill>
                  <a:srgbClr val="5B6372"/>
                </a:solidFill>
                <a:latin typeface="Arial"/>
              </a:rPr>
              <a:t>Design a governed engagement workflow for comments, direct messages, lead capture, follow-up, reviews, and user-generated content.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Responsible Practice</a:t>
            </a:r>
          </a:p>
          <a:p>
            <a:pPr algn="l">
              <a:spcAft>
                <a:spcPts val="300"/>
              </a:spcAft>
            </a:pPr>
            <a:r>
              <a:rPr sz="1300" b="0">
                <a:solidFill>
                  <a:srgbClr val="5B6372"/>
                </a:solidFill>
                <a:latin typeface="Arial"/>
              </a:rPr>
              <a:t>Apply privacy, copyright, platform, brand, and escalation rules to Instagram content and community-management decisions.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Analytics</a:t>
            </a:r>
          </a:p>
          <a:p>
            <a:pPr algn="l">
              <a:spcAft>
                <a:spcPts val="300"/>
              </a:spcAft>
            </a:pPr>
            <a:r>
              <a:rPr sz="1300" b="0">
                <a:solidFill>
                  <a:srgbClr val="5B6372"/>
                </a:solidFill>
                <a:latin typeface="Arial"/>
              </a:rPr>
              <a:t>Calculate and interpret Instagram organic and paid metrics, then produce an evidence-linked performance report and dashboard.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Ads Optimisation</a:t>
            </a:r>
          </a:p>
          <a:p>
            <a:pPr algn="l">
              <a:spcAft>
                <a:spcPts val="300"/>
              </a:spcAft>
            </a:pPr>
            <a:r>
              <a:rPr sz="1300" b="0">
                <a:solidFill>
                  <a:srgbClr val="5B6372"/>
                </a:solidFill>
                <a:latin typeface="Arial"/>
              </a:rPr>
              <a:t>Design an AI-assisted Instagram ads and retargeting optimisation loop for audience, budget, and creative decisions with human authority.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Agentic Instagram Marketing Operating System</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The Five Decisions Every Workflow Must Preserve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Why</a:t>
            </a:r>
          </a:p>
          <a:p>
            <a:pPr algn="l">
              <a:spcAft>
                <a:spcPts val="300"/>
              </a:spcAft>
            </a:pPr>
            <a:r>
              <a:rPr sz="1300" b="0">
                <a:solidFill>
                  <a:srgbClr val="5B6372"/>
                </a:solidFill>
                <a:latin typeface="Arial"/>
              </a:rPr>
              <a:t>Which business result and customer action matter?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Who</a:t>
            </a:r>
          </a:p>
          <a:p>
            <a:pPr algn="l">
              <a:spcAft>
                <a:spcPts val="300"/>
              </a:spcAft>
            </a:pPr>
            <a:r>
              <a:rPr sz="1300" b="0">
                <a:solidFill>
                  <a:srgbClr val="5B6372"/>
                </a:solidFill>
                <a:latin typeface="Arial"/>
              </a:rPr>
              <a:t>Which evidence-backed audience need are we serving?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What</a:t>
            </a:r>
          </a:p>
          <a:p>
            <a:pPr algn="l">
              <a:spcAft>
                <a:spcPts val="300"/>
              </a:spcAft>
            </a:pPr>
            <a:r>
              <a:rPr sz="1300" b="0">
                <a:solidFill>
                  <a:srgbClr val="5B6372"/>
                </a:solidFill>
                <a:latin typeface="Arial"/>
              </a:rPr>
              <a:t>Which promise, proof, offer, and creative communicate value?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Where</a:t>
            </a:r>
          </a:p>
          <a:p>
            <a:pPr algn="l">
              <a:spcAft>
                <a:spcPts val="300"/>
              </a:spcAft>
            </a:pPr>
            <a:r>
              <a:rPr sz="1300" b="0">
                <a:solidFill>
                  <a:srgbClr val="5B6372"/>
                </a:solidFill>
                <a:latin typeface="Arial"/>
              </a:rPr>
              <a:t>Should the message use organic, paid, or community delivery?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Next</a:t>
            </a:r>
          </a:p>
          <a:p>
            <a:pPr algn="l">
              <a:spcAft>
                <a:spcPts val="300"/>
              </a:spcAft>
            </a:pPr>
            <a:r>
              <a:rPr sz="1300" b="0">
                <a:solidFill>
                  <a:srgbClr val="5B6372"/>
                </a:solidFill>
                <a:latin typeface="Arial"/>
              </a:rPr>
              <a:t>Which metric and rule determine the next controlled action?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G-C-A-T-E Agent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Business result, customer action, KPI, time horizon, and finish condition.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Brand, offer, audience evidence, channel role, and authorised inputs.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Actions</a:t>
            </a:r>
          </a:p>
          <a:p>
            <a:pPr algn="l">
              <a:spcAft>
                <a:spcPts val="300"/>
              </a:spcAft>
            </a:pPr>
            <a:r>
              <a:rPr sz="1200" b="0">
                <a:solidFill>
                  <a:srgbClr val="5B6372"/>
                </a:solidFill>
                <a:latin typeface="Arial"/>
              </a:rPr>
              <a:t>Ordered steps and tools the workflow may use.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Tests</a:t>
            </a:r>
          </a:p>
          <a:p>
            <a:pPr algn="l">
              <a:spcAft>
                <a:spcPts val="300"/>
              </a:spcAft>
            </a:pPr>
            <a:r>
              <a:rPr sz="1200" b="0">
                <a:solidFill>
                  <a:srgbClr val="5B6372"/>
                </a:solidFill>
                <a:latin typeface="Arial"/>
              </a:rPr>
              <a:t>Factual, brand, privacy, advertising, and performance checks.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Escalation</a:t>
            </a:r>
          </a:p>
          <a:p>
            <a:pPr algn="l">
              <a:spcAft>
                <a:spcPts val="300"/>
              </a:spcAft>
            </a:pPr>
            <a:r>
              <a:rPr sz="1200" b="0">
                <a:solidFill>
                  <a:srgbClr val="5B6372"/>
                </a:solidFill>
                <a:latin typeface="Arial"/>
              </a:rPr>
              <a:t>Approval gates, stop conditions, owner, and recovery path.</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OPERATING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Let AI accelerate the loop; keep people accountable for the outcome.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Drafting and analysis can move quickly only when goals, evidence, permissions, and approval gates are explicit.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The Instagram Operations Pack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Foundation Pack</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Success brief</a:t>
            </a:r>
          </a:p>
          <a:p>
            <a:pPr>
              <a:spcAft>
                <a:spcPts val="900"/>
              </a:spcAft>
            </a:pPr>
            <a:r>
              <a:rPr sz="1400" b="0">
                <a:solidFill>
                  <a:srgbClr val="161B26"/>
                </a:solidFill>
                <a:latin typeface="Arial"/>
              </a:rPr>
              <a:t>•  Journey map</a:t>
            </a:r>
          </a:p>
          <a:p>
            <a:pPr>
              <a:spcAft>
                <a:spcPts val="900"/>
              </a:spcAft>
            </a:pPr>
            <a:r>
              <a:rPr sz="1400" b="0">
                <a:solidFill>
                  <a:srgbClr val="161B26"/>
                </a:solidFill>
                <a:latin typeface="Arial"/>
              </a:rPr>
              <a:t>•  Account readiness</a:t>
            </a:r>
          </a:p>
          <a:p>
            <a:pPr>
              <a:spcAft>
                <a:spcPts val="900"/>
              </a:spcAft>
            </a:pPr>
            <a:r>
              <a:rPr sz="1400" b="0">
                <a:solidFill>
                  <a:srgbClr val="161B26"/>
                </a:solidFill>
                <a:latin typeface="Arial"/>
              </a:rPr>
              <a:t>•  Prompt contract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Content &amp; Community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Content kit</a:t>
            </a:r>
          </a:p>
          <a:p>
            <a:pPr>
              <a:spcAft>
                <a:spcPts val="900"/>
              </a:spcAft>
            </a:pPr>
            <a:r>
              <a:rPr sz="1400" b="0">
                <a:solidFill>
                  <a:srgbClr val="161B26"/>
                </a:solidFill>
                <a:latin typeface="Arial"/>
              </a:rPr>
              <a:t>•  Calendar workflow</a:t>
            </a:r>
          </a:p>
          <a:p>
            <a:pPr>
              <a:spcAft>
                <a:spcPts val="900"/>
              </a:spcAft>
            </a:pPr>
            <a:r>
              <a:rPr sz="1400" b="0">
                <a:solidFill>
                  <a:srgbClr val="161B26"/>
                </a:solidFill>
                <a:latin typeface="Arial"/>
              </a:rPr>
              <a:t>•  Response router</a:t>
            </a:r>
          </a:p>
          <a:p>
            <a:pPr>
              <a:spcAft>
                <a:spcPts val="900"/>
              </a:spcAft>
            </a:pPr>
            <a:r>
              <a:rPr sz="1400" b="0">
                <a:solidFill>
                  <a:srgbClr val="161B26"/>
                </a:solidFill>
                <a:latin typeface="Arial"/>
              </a:rPr>
              <a:t>•  UGC register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Insight &amp; Growth</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Metrics dashboard</a:t>
            </a:r>
          </a:p>
          <a:p>
            <a:pPr>
              <a:spcAft>
                <a:spcPts val="900"/>
              </a:spcAft>
            </a:pPr>
            <a:r>
              <a:rPr sz="1400" b="0">
                <a:solidFill>
                  <a:srgbClr val="161B26"/>
                </a:solidFill>
                <a:latin typeface="Arial"/>
              </a:rPr>
              <a:t>•  Ads blueprint</a:t>
            </a:r>
          </a:p>
          <a:p>
            <a:pPr>
              <a:spcAft>
                <a:spcPts val="900"/>
              </a:spcAft>
            </a:pPr>
            <a:r>
              <a:rPr sz="1400" b="0">
                <a:solidFill>
                  <a:srgbClr val="161B26"/>
                </a:solidFill>
                <a:latin typeface="Arial"/>
              </a:rPr>
              <a:t>•  Retargeting and optimisation policy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Start from the shared Harbour &amp; Hearth brand brief and the previous lab checkpoint.</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Use AI to propose structured work from authorised inputs, not to invent business facts.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a human quality gate and record corrections in the campaign operations pack.</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observable evidence before carrying the artifact into the next lab.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Foundations of Agentic AI for Instagram Marketing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agents and workflows | tool choices | Professional account readiness | prompting | customer journey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Foundations of Agentic AI for Instagram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Outcome before output</a:t>
            </a:r>
          </a:p>
          <a:p>
            <a:pPr algn="l">
              <a:spcAft>
                <a:spcPts val="300"/>
              </a:spcAft>
            </a:pPr>
            <a:r>
              <a:rPr sz="1200" b="0">
                <a:solidFill>
                  <a:srgbClr val="5B6372"/>
                </a:solidFill>
                <a:latin typeface="Arial"/>
              </a:rPr>
              <a:t>Start with a business result and customer action, not a request to 'make posts'.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Organic and paid roles</a:t>
            </a:r>
          </a:p>
          <a:p>
            <a:pPr algn="l">
              <a:spcAft>
                <a:spcPts val="300"/>
              </a:spcAft>
            </a:pPr>
            <a:r>
              <a:rPr sz="1200" b="0">
                <a:solidFill>
                  <a:srgbClr val="5B6372"/>
                </a:solidFill>
                <a:latin typeface="Arial"/>
              </a:rPr>
              <a:t>Organic content builds attention and proof; paid delivery buys controlled reach and learning.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Agentic loop</a:t>
            </a:r>
          </a:p>
          <a:p>
            <a:pPr algn="l">
              <a:spcAft>
                <a:spcPts val="300"/>
              </a:spcAft>
            </a:pPr>
            <a:r>
              <a:rPr sz="1200" b="0">
                <a:solidFill>
                  <a:srgbClr val="5B6372"/>
                </a:solidFill>
                <a:latin typeface="Arial"/>
              </a:rPr>
              <a:t>An agent plans, uses tools, checks evidence, and iterates until a stop condition is reached.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 boundary</a:t>
            </a:r>
          </a:p>
          <a:p>
            <a:pPr algn="l">
              <a:spcAft>
                <a:spcPts val="300"/>
              </a:spcAft>
            </a:pPr>
            <a:r>
              <a:rPr sz="1200" b="0">
                <a:solidFill>
                  <a:srgbClr val="5B6372"/>
                </a:solidFill>
                <a:latin typeface="Arial"/>
              </a:rPr>
              <a:t>Facts, customer data, and performance numbers need provenance; unknowns remain labelled assumptions.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Prompt contract</a:t>
            </a:r>
          </a:p>
          <a:p>
            <a:pPr algn="l">
              <a:spcAft>
                <a:spcPts val="300"/>
              </a:spcAft>
            </a:pPr>
            <a:r>
              <a:rPr sz="1200" b="0">
                <a:solidFill>
                  <a:srgbClr val="5B6372"/>
                </a:solidFill>
                <a:latin typeface="Arial"/>
              </a:rPr>
              <a:t>Role, goal, context, inputs, rules, output schema, and review criteria make work repeatable.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Audience hypothesis</a:t>
            </a:r>
          </a:p>
          <a:p>
            <a:pPr algn="l">
              <a:spcAft>
                <a:spcPts val="300"/>
              </a:spcAft>
            </a:pPr>
            <a:r>
              <a:rPr sz="1200" b="0">
                <a:solidFill>
                  <a:srgbClr val="5B6372"/>
                </a:solidFill>
                <a:latin typeface="Arial"/>
              </a:rPr>
              <a:t>A segment is a testable need and behaviour pattern, not a stereotype or invented demographic.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Foundations of Agentic AI for Instagram Marketing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authority</a:t>
            </a:r>
          </a:p>
          <a:p>
            <a:pPr algn="l">
              <a:spcAft>
                <a:spcPts val="300"/>
              </a:spcAft>
            </a:pPr>
            <a:r>
              <a:rPr sz="1200" b="0">
                <a:solidFill>
                  <a:srgbClr val="5B6372"/>
                </a:solidFill>
                <a:latin typeface="Arial"/>
              </a:rPr>
              <a:t>Publishing, spend, targeting changes, and sensitive replies remain approval-controlled actions.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Audit trail</a:t>
            </a:r>
          </a:p>
          <a:p>
            <a:pPr algn="l">
              <a:spcAft>
                <a:spcPts val="300"/>
              </a:spcAft>
            </a:pPr>
            <a:r>
              <a:rPr sz="1200" b="0">
                <a:solidFill>
                  <a:srgbClr val="5B6372"/>
                </a:solidFill>
                <a:latin typeface="Arial"/>
              </a:rPr>
              <a:t>Save the brief, inputs, versions, approvals, and final decision so the workflow can be reviewed.</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SYSTEM 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Instagram Marketing as a Connected System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Business objective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Audience need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Useful content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Organic or paid delivery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Measured customer action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WHAT MAKES IT AGENTIC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From Generative AI to an Agentic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Single AI task</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Agentic workflow</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One prompt produces one draft</a:t>
            </a:r>
          </a:p>
          <a:p>
            <a:pPr>
              <a:spcAft>
                <a:spcPts val="1000"/>
              </a:spcAft>
            </a:pPr>
            <a:r>
              <a:rPr sz="1600" b="0">
                <a:solidFill>
                  <a:srgbClr val="161B26"/>
                </a:solidFill>
                <a:latin typeface="Arial"/>
              </a:rPr>
              <a:t>•  The user manually supplies every input</a:t>
            </a:r>
          </a:p>
          <a:p>
            <a:pPr>
              <a:spcAft>
                <a:spcPts val="1000"/>
              </a:spcAft>
            </a:pPr>
            <a:r>
              <a:rPr sz="1600" b="0">
                <a:solidFill>
                  <a:srgbClr val="161B26"/>
                </a:solidFill>
                <a:latin typeface="Arial"/>
              </a:rPr>
              <a:t>•  No persistent state or explicit stop rule</a:t>
            </a:r>
          </a:p>
          <a:p>
            <a:pPr>
              <a:spcAft>
                <a:spcPts val="1000"/>
              </a:spcAft>
            </a:pPr>
            <a:r>
              <a:rPr sz="1600" b="0">
                <a:solidFill>
                  <a:srgbClr val="161B26"/>
                </a:solidFill>
                <a:latin typeface="Arial"/>
              </a:rPr>
              <a:t>•  Quality depends on one response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 goal is decomposed into multiple steps</a:t>
            </a:r>
          </a:p>
          <a:p>
            <a:pPr>
              <a:spcAft>
                <a:spcPts val="1000"/>
              </a:spcAft>
            </a:pPr>
            <a:r>
              <a:rPr sz="1600" b="0">
                <a:solidFill>
                  <a:srgbClr val="161B26"/>
                </a:solidFill>
                <a:latin typeface="Arial"/>
              </a:rPr>
              <a:t>•  Tools retrieve data or create controlled outputs</a:t>
            </a:r>
          </a:p>
          <a:p>
            <a:pPr>
              <a:spcAft>
                <a:spcPts val="1000"/>
              </a:spcAft>
            </a:pPr>
            <a:r>
              <a:rPr sz="1600" b="0">
                <a:solidFill>
                  <a:srgbClr val="161B26"/>
                </a:solidFill>
                <a:latin typeface="Arial"/>
              </a:rPr>
              <a:t>•  State, checks, retries, and stop conditions are explicit</a:t>
            </a:r>
          </a:p>
          <a:p>
            <a:pPr>
              <a:spcAft>
                <a:spcPts val="1000"/>
              </a:spcAft>
            </a:pPr>
            <a:r>
              <a:rPr sz="1600" b="0">
                <a:solidFill>
                  <a:srgbClr val="161B26"/>
                </a:solidFill>
                <a:latin typeface="Arial"/>
              </a:rPr>
              <a:t>•  A person approves high-impact actions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AGENT ANATOMY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Six-Part Marketing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The result, customer action, time horizon, and success threshold.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Brand, offer, audience evidence, channel role, and constraints.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Instructions</a:t>
            </a:r>
          </a:p>
          <a:p>
            <a:pPr algn="l">
              <a:spcAft>
                <a:spcPts val="300"/>
              </a:spcAft>
            </a:pPr>
            <a:r>
              <a:rPr sz="1200" b="0">
                <a:solidFill>
                  <a:srgbClr val="5B6372"/>
                </a:solidFill>
                <a:latin typeface="Arial"/>
              </a:rPr>
              <a:t>Decision rules, required steps, output format, and escalation logic.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Tools</a:t>
            </a:r>
          </a:p>
          <a:p>
            <a:pPr algn="l">
              <a:spcAft>
                <a:spcPts val="300"/>
              </a:spcAft>
            </a:pPr>
            <a:r>
              <a:rPr sz="1200" b="0">
                <a:solidFill>
                  <a:srgbClr val="5B6372"/>
                </a:solidFill>
                <a:latin typeface="Arial"/>
              </a:rPr>
              <a:t>Approved data sources, content tools, calendars, and reporting surfaces.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Memory</a:t>
            </a:r>
          </a:p>
          <a:p>
            <a:pPr algn="l">
              <a:spcAft>
                <a:spcPts val="300"/>
              </a:spcAft>
            </a:pPr>
            <a:r>
              <a:rPr sz="1200" b="0">
                <a:solidFill>
                  <a:srgbClr val="5B6372"/>
                </a:solidFill>
                <a:latin typeface="Arial"/>
              </a:rPr>
              <a:t>Briefs, past variants, decisions, and lessons that should persist.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Checks</a:t>
            </a:r>
          </a:p>
          <a:p>
            <a:pPr algn="l">
              <a:spcAft>
                <a:spcPts val="300"/>
              </a:spcAft>
            </a:pPr>
            <a:r>
              <a:rPr sz="1200" b="0">
                <a:solidFill>
                  <a:srgbClr val="5B6372"/>
                </a:solidFill>
                <a:latin typeface="Arial"/>
              </a:rPr>
              <a:t>Brand, factual, privacy, policy, and performance validation before action.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Â· TOOL 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Choose Tools by Role, Permission, and Risk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ChatGPT or Claude</a:t>
            </a:r>
          </a:p>
          <a:p>
            <a:pPr algn="l">
              <a:spcAft>
                <a:spcPts val="300"/>
              </a:spcAft>
            </a:pPr>
            <a:r>
              <a:rPr sz="1200" b="0">
                <a:solidFill>
                  <a:srgbClr val="5B6372"/>
                </a:solidFill>
                <a:latin typeface="Arial"/>
              </a:rPr>
              <a:t>Develop briefs, structured drafts, critique, classification, and analysis from approved inputs.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Image tools</a:t>
            </a:r>
          </a:p>
          <a:p>
            <a:pPr algn="l">
              <a:spcAft>
                <a:spcPts val="300"/>
              </a:spcAft>
            </a:pPr>
            <a:r>
              <a:rPr sz="1200" b="0">
                <a:solidFill>
                  <a:srgbClr val="5B6372"/>
                </a:solidFill>
                <a:latin typeface="Arial"/>
              </a:rPr>
              <a:t>Explore visual concepts and storyboards; retain provenance and verify product truth.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Meta Business Suite</a:t>
            </a:r>
          </a:p>
          <a:p>
            <a:pPr algn="l">
              <a:spcAft>
                <a:spcPts val="300"/>
              </a:spcAft>
            </a:pPr>
            <a:r>
              <a:rPr sz="1200" b="0">
                <a:solidFill>
                  <a:srgbClr val="5B6372"/>
                </a:solidFill>
                <a:latin typeface="Arial"/>
              </a:rPr>
              <a:t>Review profiles, drafts, Planner, Inbox, and insights with account-based permissions.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n8n</a:t>
            </a:r>
          </a:p>
          <a:p>
            <a:pPr algn="l">
              <a:spcAft>
                <a:spcPts val="300"/>
              </a:spcAft>
            </a:pPr>
            <a:r>
              <a:rPr sz="1200" b="0">
                <a:solidFill>
                  <a:srgbClr val="5B6372"/>
                </a:solidFill>
                <a:latin typeface="Arial"/>
              </a:rPr>
              <a:t>Connect triggers, data, AI steps, review gates, logs, retries, and bounded actions.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Spreadsheets</a:t>
            </a:r>
          </a:p>
          <a:p>
            <a:pPr algn="l">
              <a:spcAft>
                <a:spcPts val="300"/>
              </a:spcAft>
            </a:pPr>
            <a:r>
              <a:rPr sz="1200" b="0">
                <a:solidFill>
                  <a:srgbClr val="5B6372"/>
                </a:solidFill>
                <a:latin typeface="Arial"/>
              </a:rPr>
              <a:t>Hold calendars, response queues, metric definitions, and decision logs in a reviewable form.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Instagram API</a:t>
            </a:r>
          </a:p>
          <a:p>
            <a:pPr algn="l">
              <a:spcAft>
                <a:spcPts val="300"/>
              </a:spcAft>
            </a:pPr>
            <a:r>
              <a:rPr sz="1200" b="0">
                <a:solidFill>
                  <a:srgbClr val="5B6372"/>
                </a:solidFill>
                <a:latin typeface="Arial"/>
              </a:rPr>
              <a:t>Supports approved professional-account publishing, insights, comments, and messaging use cases subject to permissions and limits.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Â· SETUP CHECK</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Professional Account and Automation Readiness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Professional account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Correct business identity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Linked assets and roles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Approved permissions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Draft-mode connection test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MEASUREMENT LOGIC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Objective, Customer Action, and KPI Chain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Business result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Marketing objective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Customer action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Primary KPI</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Guardrail metric</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AUDIENCE DESIGN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Audience Evidence Before Targeting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Observed</a:t>
            </a:r>
          </a:p>
          <a:p>
            <a:pPr algn="l">
              <a:spcAft>
                <a:spcPts val="300"/>
              </a:spcAft>
            </a:pPr>
            <a:r>
              <a:rPr sz="1200" b="0">
                <a:solidFill>
                  <a:srgbClr val="5B6372"/>
                </a:solidFill>
                <a:latin typeface="Arial"/>
              </a:rPr>
              <a:t>Existing customer questions, purchases, site behaviour, and Instagram interactions.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Declared</a:t>
            </a:r>
          </a:p>
          <a:p>
            <a:pPr algn="l">
              <a:spcAft>
                <a:spcPts val="300"/>
              </a:spcAft>
            </a:pPr>
            <a:r>
              <a:rPr sz="1200" b="0">
                <a:solidFill>
                  <a:srgbClr val="5B6372"/>
                </a:solidFill>
                <a:latin typeface="Arial"/>
              </a:rPr>
              <a:t>Needs and preferences people voluntarily shared through interviews or forms.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Inferred</a:t>
            </a:r>
          </a:p>
          <a:p>
            <a:pPr algn="l">
              <a:spcAft>
                <a:spcPts val="300"/>
              </a:spcAft>
            </a:pPr>
            <a:r>
              <a:rPr sz="1200" b="0">
                <a:solidFill>
                  <a:srgbClr val="5B6372"/>
                </a:solidFill>
                <a:latin typeface="Arial"/>
              </a:rPr>
              <a:t>A labelled hypothesis derived from patterns, never presented as fact.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Excluded</a:t>
            </a:r>
          </a:p>
          <a:p>
            <a:pPr algn="l">
              <a:spcAft>
                <a:spcPts val="300"/>
              </a:spcAft>
            </a:pPr>
            <a:r>
              <a:rPr sz="1200" b="0">
                <a:solidFill>
                  <a:srgbClr val="5B6372"/>
                </a:solidFill>
                <a:latin typeface="Arial"/>
              </a:rPr>
              <a:t>Sensitive traits, unjustified personal data, and segments the offer should not reach.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Testable</a:t>
            </a:r>
          </a:p>
          <a:p>
            <a:pPr algn="l">
              <a:spcAft>
                <a:spcPts val="300"/>
              </a:spcAft>
            </a:pPr>
            <a:r>
              <a:rPr sz="1200" b="0">
                <a:solidFill>
                  <a:srgbClr val="5B6372"/>
                </a:solidFill>
                <a:latin typeface="Arial"/>
              </a:rPr>
              <a:t>A need, trigger, barrier, message angle, and measurable response.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Revisable</a:t>
            </a:r>
          </a:p>
          <a:p>
            <a:pPr algn="l">
              <a:spcAft>
                <a:spcPts val="300"/>
              </a:spcAft>
            </a:pPr>
            <a:r>
              <a:rPr sz="1200" b="0">
                <a:solidFill>
                  <a:srgbClr val="5B6372"/>
                </a:solidFill>
                <a:latin typeface="Arial"/>
              </a:rPr>
              <a:t>A segment changes when evidence contradicts the original hypothesis.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REUSABLE INSTRUCTIONS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Role and goal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Grounded inputs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Decision rules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Output schema</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and escalation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Foundations of Agentic AI for Instagram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Map the Instagram Customer Journey and Account Readiness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and Test the Instagram Agent Prompt Contract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Map the Instagram Customer Journey and Account Readiness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begin the connected Harbour &amp; Hearth scenario by turning an approved synthetic brand brief and audience signals into a measurable Instagram customer journey. You then complete a Professional-account readiness and tool-permission map so every later agent knows what it may read, draft, recommend, or hand to a human.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43984"/>
            <a:ext cx="10058400" cy="841248"/>
          </a:xfrm>
          <a:prstGeom prst="rect">
            <a:avLst/>
          </a:prstGeom>
          <a:noFill/>
        </p:spPr>
        <p:txBody>
          <a:bodyPr wrap="square" anchor="t">
            <a:spAutoFit/>
          </a:bodyPr>
          <a:lstStyle/>
          <a:p>
            <a:pPr algn="l">
              <a:spcAft>
                <a:spcPts val="400"/>
              </a:spcAft>
            </a:pPr>
            <a:r>
              <a:rPr sz="1700" b="1">
                <a:solidFill>
                  <a:srgbClr val="161B26"/>
                </a:solidFill>
                <a:latin typeface="Arial"/>
              </a:rPr>
              <a:t>C695-campaign-pack/01-foundation-and-readiness.md containing the decision chain, five-stage customer journey, tool-role map, account-readiness checklist, risk tiers, and approval gates.</a:t>
            </a:r>
          </a:p>
        </p:txBody>
      </p:sp>
      <p:sp>
        <p:nvSpPr>
          <p:cNvPr id="13" name="TextBox 12"/>
          <p:cNvSpPr txBox="1"/>
          <p:nvPr/>
        </p:nvSpPr>
        <p:spPr>
          <a:xfrm>
            <a:off x="1005840" y="5340096"/>
            <a:ext cx="10241280" cy="310896"/>
          </a:xfrm>
          <a:prstGeom prst="rect">
            <a:avLst/>
          </a:prstGeom>
          <a:noFill/>
        </p:spPr>
        <p:txBody>
          <a:bodyPr wrap="square" anchor="t">
            <a:spAutoFit/>
          </a:bodyPr>
          <a:lstStyle/>
          <a:p>
            <a:pPr algn="l">
              <a:spcAft>
                <a:spcPts val="400"/>
              </a:spcAft>
            </a:pPr>
            <a:r>
              <a:rPr sz="1400" b="1">
                <a:solidFill>
                  <a:srgbClr val="5B6372"/>
                </a:solidFill>
                <a:latin typeface="Arial"/>
              </a:rPr>
              <a:t>Resources:  </a:t>
            </a:r>
            <a:r>
              <a:rPr sz="1400" b="0">
                <a:solidFill>
                  <a:srgbClr val="5B6372"/>
                </a:solidFill>
                <a:latin typeface="Arial"/>
              </a:rPr>
              <a:t>Use the matching lab's prerequisites and supplied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1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Extract approved facts, business result, customer action, evidence, and unknowns.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Map discovery, evaluation, engagement, action, and retention stages.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Assign tools, permissions, risk tiers, human owners, and stop conditions.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Complete a Professional-account readiness check without exposing credentials.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the Test It checks and save the verified checkpoint.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and Test the Instagram Agent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convert the foundation and readiness map into a G-C-A-T-E prompt contract that governs the remaining course work. The contract tells an AI agent what goal to pursue, which evidence it may use, what tools and actions are allowed, how outputs are checked, and when it must stop for a person.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43984"/>
            <a:ext cx="10058400" cy="841248"/>
          </a:xfrm>
          <a:prstGeom prst="rect">
            <a:avLst/>
          </a:prstGeom>
          <a:noFill/>
        </p:spPr>
        <p:txBody>
          <a:bodyPr wrap="square" anchor="t">
            <a:spAutoFit/>
          </a:bodyPr>
          <a:lstStyle/>
          <a:p>
            <a:pPr algn="l">
              <a:spcAft>
                <a:spcPts val="400"/>
              </a:spcAft>
            </a:pPr>
            <a:r>
              <a:rPr sz="1700" b="1">
                <a:solidFill>
                  <a:srgbClr val="161B26"/>
                </a:solidFill>
                <a:latin typeface="Arial"/>
              </a:rPr>
              <a:t>C695-campaign-pack/02-agent-prompt-contract.md containing the G-C-A-T-E instructions, permission matrix, output schema, test cases, corrections, and final behaviour.</a:t>
            </a:r>
          </a:p>
        </p:txBody>
      </p:sp>
      <p:sp>
        <p:nvSpPr>
          <p:cNvPr id="13" name="TextBox 12"/>
          <p:cNvSpPr txBox="1"/>
          <p:nvPr/>
        </p:nvSpPr>
        <p:spPr>
          <a:xfrm>
            <a:off x="1005840" y="5340096"/>
            <a:ext cx="10241280" cy="310896"/>
          </a:xfrm>
          <a:prstGeom prst="rect">
            <a:avLst/>
          </a:prstGeom>
          <a:noFill/>
        </p:spPr>
        <p:txBody>
          <a:bodyPr wrap="square" anchor="t">
            <a:spAutoFit/>
          </a:bodyPr>
          <a:lstStyle/>
          <a:p>
            <a:pPr algn="l">
              <a:spcAft>
                <a:spcPts val="400"/>
              </a:spcAft>
            </a:pPr>
            <a:r>
              <a:rPr sz="1400" b="1">
                <a:solidFill>
                  <a:srgbClr val="5B6372"/>
                </a:solidFill>
                <a:latin typeface="Arial"/>
              </a:rPr>
              <a:t>Resources:  </a:t>
            </a:r>
            <a:r>
              <a:rPr sz="1400" b="0">
                <a:solidFill>
                  <a:srgbClr val="5B6372"/>
                </a:solidFill>
                <a:latin typeface="Arial"/>
              </a:rPr>
              <a:t>Use the matching lab's prerequisites and supplied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2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Translate the business goal and evidence boundary into reusable instructions.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allowed tools, forbidden actions, checks, output, and escalation.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missing-evidence, personal-data, and public-action tests.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Strengthen the contract until all three tests stop or route safely.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the Test It checks and save the verified checkpoint.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Foundations of Agentic AI for Instagram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Explain AI agents and map the customer journey, account readiness, tools, evidence, and approval gates for an Instagram workflow</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Create and test reusable agent instructions with grounded inputs, tool permissions, output checks, escalation rules, and failure behaviour</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AI-Powered Content Creation and Scheduling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posts, captions and hashtags | images and Reels | content calendar agent | scheduling | brand consistency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AI-Powered Content Creation and Scheduling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 message hierarchy</a:t>
            </a:r>
          </a:p>
          <a:p>
            <a:pPr algn="l">
              <a:spcAft>
                <a:spcPts val="300"/>
              </a:spcAft>
            </a:pPr>
            <a:r>
              <a:rPr sz="1200" b="0">
                <a:solidFill>
                  <a:srgbClr val="5B6372"/>
                </a:solidFill>
                <a:latin typeface="Arial"/>
              </a:rPr>
              <a:t>Audience tension, promise, proof, offer, and action align every content format.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Content pillars</a:t>
            </a:r>
          </a:p>
          <a:p>
            <a:pPr algn="l">
              <a:spcAft>
                <a:spcPts val="300"/>
              </a:spcAft>
            </a:pPr>
            <a:r>
              <a:rPr sz="1200" b="0">
                <a:solidFill>
                  <a:srgbClr val="5B6372"/>
                </a:solidFill>
                <a:latin typeface="Arial"/>
              </a:rPr>
              <a:t>Repeatable themes create variety without losing strategic focus.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Hook with relevance</a:t>
            </a:r>
          </a:p>
          <a:p>
            <a:pPr algn="l">
              <a:spcAft>
                <a:spcPts val="300"/>
              </a:spcAft>
            </a:pPr>
            <a:r>
              <a:rPr sz="1200" b="0">
                <a:solidFill>
                  <a:srgbClr val="5B6372"/>
                </a:solidFill>
                <a:latin typeface="Arial"/>
              </a:rPr>
              <a:t>Earn attention by naming a useful tension, not by exaggerating or withholding truth.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Proof before pressure</a:t>
            </a:r>
          </a:p>
          <a:p>
            <a:pPr algn="l">
              <a:spcAft>
                <a:spcPts val="300"/>
              </a:spcAft>
            </a:pPr>
            <a:r>
              <a:rPr sz="1200" b="0">
                <a:solidFill>
                  <a:srgbClr val="5B6372"/>
                </a:solidFill>
                <a:latin typeface="Arial"/>
              </a:rPr>
              <a:t>Specific evidence reduces uncertainty more effectively than louder claims.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Format follows job</a:t>
            </a:r>
          </a:p>
          <a:p>
            <a:pPr algn="l">
              <a:spcAft>
                <a:spcPts val="300"/>
              </a:spcAft>
            </a:pPr>
            <a:r>
              <a:rPr sz="1200" b="0">
                <a:solidFill>
                  <a:srgbClr val="5B6372"/>
                </a:solidFill>
                <a:latin typeface="Arial"/>
              </a:rPr>
              <a:t>Image, carousel, and video choices should match the message and stage of awareness.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Brand voice rules</a:t>
            </a:r>
          </a:p>
          <a:p>
            <a:pPr algn="l">
              <a:spcAft>
                <a:spcPts val="300"/>
              </a:spcAft>
            </a:pPr>
            <a:r>
              <a:rPr sz="1200" b="0">
                <a:solidFill>
                  <a:srgbClr val="5B6372"/>
                </a:solidFill>
                <a:latin typeface="Arial"/>
              </a:rPr>
              <a:t>Observable language patterns are easier for AI to follow than vague adjectives.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AI-Powered Content Creation and Scheduling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Variant discipline</a:t>
            </a:r>
          </a:p>
          <a:p>
            <a:pPr algn="l">
              <a:spcAft>
                <a:spcPts val="300"/>
              </a:spcAft>
            </a:pPr>
            <a:r>
              <a:rPr sz="1200" b="0">
                <a:solidFill>
                  <a:srgbClr val="5B6372"/>
                </a:solidFill>
                <a:latin typeface="Arial"/>
              </a:rPr>
              <a:t>Change one meaningful variable at a time so later performance can teach you something.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creative review</a:t>
            </a:r>
          </a:p>
          <a:p>
            <a:pPr algn="l">
              <a:spcAft>
                <a:spcPts val="300"/>
              </a:spcAft>
            </a:pPr>
            <a:r>
              <a:rPr sz="1200" b="0">
                <a:solidFill>
                  <a:srgbClr val="5B6372"/>
                </a:solidFill>
                <a:latin typeface="Arial"/>
              </a:rPr>
              <a:t>Check accuracy, rights, representation, readability, and platform fit before use.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MESSAGE DESIGN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Instagram Message Hierarchy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Audience tension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Relevant promise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Reason to believe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Offer or next step</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Clear action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EDITORIAL SYSTEM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Content Pillars and the Customer Journey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Teach</a:t>
            </a:r>
          </a:p>
          <a:p>
            <a:pPr algn="l">
              <a:spcAft>
                <a:spcPts val="300"/>
              </a:spcAft>
            </a:pPr>
            <a:r>
              <a:rPr sz="1200" b="0">
                <a:solidFill>
                  <a:srgbClr val="5B6372"/>
                </a:solidFill>
                <a:latin typeface="Arial"/>
              </a:rPr>
              <a:t>Answer a useful question and build problem awareness.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Show</a:t>
            </a:r>
          </a:p>
          <a:p>
            <a:pPr algn="l">
              <a:spcAft>
                <a:spcPts val="300"/>
              </a:spcAft>
            </a:pPr>
            <a:r>
              <a:rPr sz="1200" b="0">
                <a:solidFill>
                  <a:srgbClr val="5B6372"/>
                </a:solidFill>
                <a:latin typeface="Arial"/>
              </a:rPr>
              <a:t>Demonstrate the product, process, or customer experience.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Prove</a:t>
            </a:r>
          </a:p>
          <a:p>
            <a:pPr algn="l">
              <a:spcAft>
                <a:spcPts val="300"/>
              </a:spcAft>
            </a:pPr>
            <a:r>
              <a:rPr sz="1200" b="0">
                <a:solidFill>
                  <a:srgbClr val="5B6372"/>
                </a:solidFill>
                <a:latin typeface="Arial"/>
              </a:rPr>
              <a:t>Use evidence, reviews, comparisons, or behind-the-scenes detail.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Invite</a:t>
            </a:r>
          </a:p>
          <a:p>
            <a:pPr algn="l">
              <a:spcAft>
                <a:spcPts val="300"/>
              </a:spcAft>
            </a:pPr>
            <a:r>
              <a:rPr sz="1200" b="0">
                <a:solidFill>
                  <a:srgbClr val="5B6372"/>
                </a:solidFill>
                <a:latin typeface="Arial"/>
              </a:rPr>
              <a:t>Present an offer and make the next action unmistakable.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Engage</a:t>
            </a:r>
          </a:p>
          <a:p>
            <a:pPr algn="l">
              <a:spcAft>
                <a:spcPts val="300"/>
              </a:spcAft>
            </a:pPr>
            <a:r>
              <a:rPr sz="1200" b="0">
                <a:solidFill>
                  <a:srgbClr val="5B6372"/>
                </a:solidFill>
                <a:latin typeface="Arial"/>
              </a:rPr>
              <a:t>Ask a meaningful question or respond to community signals.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Learn</a:t>
            </a:r>
          </a:p>
          <a:p>
            <a:pPr algn="l">
              <a:spcAft>
                <a:spcPts val="300"/>
              </a:spcAft>
            </a:pPr>
            <a:r>
              <a:rPr sz="1200" b="0">
                <a:solidFill>
                  <a:srgbClr val="5B6372"/>
                </a:solidFill>
                <a:latin typeface="Arial"/>
              </a:rPr>
              <a:t>Use performance and comments to refine the next content cycle.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CONSISTENCY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Brand Voice as Observable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Weak instruction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Operational rule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Sound friendly and premium</a:t>
            </a:r>
          </a:p>
          <a:p>
            <a:pPr>
              <a:spcAft>
                <a:spcPts val="1000"/>
              </a:spcAft>
            </a:pPr>
            <a:r>
              <a:rPr sz="1600" b="0">
                <a:solidFill>
                  <a:srgbClr val="161B26"/>
                </a:solidFill>
                <a:latin typeface="Arial"/>
              </a:rPr>
              <a:t>•  Make it engaging</a:t>
            </a:r>
          </a:p>
          <a:p>
            <a:pPr>
              <a:spcAft>
                <a:spcPts val="1000"/>
              </a:spcAft>
            </a:pPr>
            <a:r>
              <a:rPr sz="1600" b="0">
                <a:solidFill>
                  <a:srgbClr val="161B26"/>
                </a:solidFill>
                <a:latin typeface="Arial"/>
              </a:rPr>
              <a:t>•  Use our usual tone</a:t>
            </a:r>
          </a:p>
          <a:p>
            <a:pPr>
              <a:spcAft>
                <a:spcPts val="1000"/>
              </a:spcAft>
            </a:pPr>
            <a:r>
              <a:rPr sz="1600" b="0">
                <a:solidFill>
                  <a:srgbClr val="161B26"/>
                </a:solidFill>
                <a:latin typeface="Arial"/>
              </a:rPr>
              <a:t>•  Avoid sounding robotic</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Use warm, direct sentences of 8-18 words</a:t>
            </a:r>
          </a:p>
          <a:p>
            <a:pPr>
              <a:spcAft>
                <a:spcPts val="1000"/>
              </a:spcAft>
            </a:pPr>
            <a:r>
              <a:rPr sz="1600" b="0">
                <a:solidFill>
                  <a:srgbClr val="161B26"/>
                </a:solidFill>
                <a:latin typeface="Arial"/>
              </a:rPr>
              <a:t>•  Open with a specific customer situation</a:t>
            </a:r>
          </a:p>
          <a:p>
            <a:pPr>
              <a:spcAft>
                <a:spcPts val="1000"/>
              </a:spcAft>
            </a:pPr>
            <a:r>
              <a:rPr sz="1600" b="0">
                <a:solidFill>
                  <a:srgbClr val="161B26"/>
                </a:solidFill>
                <a:latin typeface="Arial"/>
              </a:rPr>
              <a:t>•  Use Singapore English naturally; avoid forced slang</a:t>
            </a:r>
          </a:p>
          <a:p>
            <a:pPr>
              <a:spcAft>
                <a:spcPts val="1000"/>
              </a:spcAft>
            </a:pPr>
            <a:r>
              <a:rPr sz="1600" b="0">
                <a:solidFill>
                  <a:srgbClr val="161B26"/>
                </a:solidFill>
                <a:latin typeface="Arial"/>
              </a:rPr>
              <a:t>•  One helpful detail before one invitation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COPY SYSTEM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Caption and Hashtag System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Specific hook</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Useful value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Credible proof</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Single call to action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Relevant hashtag set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CREATIVE CHOICE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Creative System: Image, Carousel, Stories, and Reels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Single image</a:t>
            </a:r>
          </a:p>
          <a:p>
            <a:pPr algn="l">
              <a:spcAft>
                <a:spcPts val="300"/>
              </a:spcAft>
            </a:pPr>
            <a:r>
              <a:rPr sz="1200" b="0">
                <a:solidFill>
                  <a:srgbClr val="5B6372"/>
                </a:solidFill>
                <a:latin typeface="Arial"/>
              </a:rPr>
              <a:t>One idea, one focal point, fast recognition, strong offer or proof.</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Carousel</a:t>
            </a:r>
          </a:p>
          <a:p>
            <a:pPr algn="l">
              <a:spcAft>
                <a:spcPts val="300"/>
              </a:spcAft>
            </a:pPr>
            <a:r>
              <a:rPr sz="1200" b="0">
                <a:solidFill>
                  <a:srgbClr val="5B6372"/>
                </a:solidFill>
                <a:latin typeface="Arial"/>
              </a:rPr>
              <a:t>A sequence, comparison, product range, or step-by-step story.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Stories</a:t>
            </a:r>
          </a:p>
          <a:p>
            <a:pPr algn="l">
              <a:spcAft>
                <a:spcPts val="300"/>
              </a:spcAft>
            </a:pPr>
            <a:r>
              <a:rPr sz="1200" b="0">
                <a:solidFill>
                  <a:srgbClr val="5B6372"/>
                </a:solidFill>
                <a:latin typeface="Arial"/>
              </a:rPr>
              <a:t>Timely updates, interaction prompts, reminders, and sequential moments.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Reels</a:t>
            </a:r>
          </a:p>
          <a:p>
            <a:pPr algn="l">
              <a:spcAft>
                <a:spcPts val="300"/>
              </a:spcAft>
            </a:pPr>
            <a:r>
              <a:rPr sz="1200" b="0">
                <a:solidFill>
                  <a:srgbClr val="5B6372"/>
                </a:solidFill>
                <a:latin typeface="Arial"/>
              </a:rPr>
              <a:t>Motion, demonstration, personality, transformation, or process.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First-frame clarity</a:t>
            </a:r>
          </a:p>
          <a:p>
            <a:pPr algn="l">
              <a:spcAft>
                <a:spcPts val="300"/>
              </a:spcAft>
            </a:pPr>
            <a:r>
              <a:rPr sz="1200" b="0">
                <a:solidFill>
                  <a:srgbClr val="5B6372"/>
                </a:solidFill>
                <a:latin typeface="Arial"/>
              </a:rPr>
              <a:t>Make the subject and value understandable without sound; use simple composition and safe cropping.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Rights and truth</a:t>
            </a:r>
          </a:p>
          <a:p>
            <a:pPr algn="l">
              <a:spcAft>
                <a:spcPts val="300"/>
              </a:spcAft>
            </a:pPr>
            <a:r>
              <a:rPr sz="1200" b="0">
                <a:solidFill>
                  <a:srgbClr val="5B6372"/>
                </a:solidFill>
                <a:latin typeface="Arial"/>
              </a:rPr>
              <a:t>Use authorised assets; review generated details, product accuracy, and implied claims.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Â· CALENDAR TO ACTION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Content Calendar Agent and Publishing Control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Approved brief</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Calendar proposal</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Asset and caption checks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Human approval</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Schedule or publish</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Log outcome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BEFORE APPROVAL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Content Quality Gate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Grounded facts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Brand fit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Audience value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Creative and rights check</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Objective and action match</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AI-Powered Content Creation and Scheduling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the Instagram Content and Creative Kit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Content Calendar Agent and Publishing Workflow</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the Instagram Content and Creative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use the approved journey and prompt contract to create a seven-item Instagram content kit for Harbour &amp; Hearth. The kit covers feed posts, a carousel, Stories, and Reels while preserving one message hierarchy, observable brand-voice rules, relevant hashtags, creative rights checks, and a clear customer action.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43984"/>
            <a:ext cx="10058400" cy="841248"/>
          </a:xfrm>
          <a:prstGeom prst="rect">
            <a:avLst/>
          </a:prstGeom>
          <a:noFill/>
        </p:spPr>
        <p:txBody>
          <a:bodyPr wrap="square" anchor="t">
            <a:spAutoFit/>
          </a:bodyPr>
          <a:lstStyle/>
          <a:p>
            <a:pPr algn="l">
              <a:spcAft>
                <a:spcPts val="400"/>
              </a:spcAft>
            </a:pPr>
            <a:r>
              <a:rPr sz="1500" b="1">
                <a:solidFill>
                  <a:srgbClr val="161B26"/>
                </a:solidFill>
                <a:latin typeface="Arial"/>
              </a:rPr>
              <a:t>C695-campaign-pack/03-instagram-content-kit.md containing seven content briefs, reviewed captions, hashtag rationales, image or storyboard directions, a brand consistency score, and a rights log.</a:t>
            </a:r>
          </a:p>
        </p:txBody>
      </p:sp>
      <p:sp>
        <p:nvSpPr>
          <p:cNvPr id="13" name="TextBox 12"/>
          <p:cNvSpPr txBox="1"/>
          <p:nvPr/>
        </p:nvSpPr>
        <p:spPr>
          <a:xfrm>
            <a:off x="1005840" y="5340096"/>
            <a:ext cx="10241280" cy="310896"/>
          </a:xfrm>
          <a:prstGeom prst="rect">
            <a:avLst/>
          </a:prstGeom>
          <a:noFill/>
        </p:spPr>
        <p:txBody>
          <a:bodyPr wrap="square" anchor="t">
            <a:spAutoFit/>
          </a:bodyPr>
          <a:lstStyle/>
          <a:p>
            <a:pPr algn="l">
              <a:spcAft>
                <a:spcPts val="400"/>
              </a:spcAft>
            </a:pPr>
            <a:r>
              <a:rPr sz="1400" b="1">
                <a:solidFill>
                  <a:srgbClr val="5B6372"/>
                </a:solidFill>
                <a:latin typeface="Arial"/>
              </a:rPr>
              <a:t>Resources:  </a:t>
            </a:r>
            <a:r>
              <a:rPr sz="1400" b="0">
                <a:solidFill>
                  <a:srgbClr val="5B6372"/>
                </a:solidFill>
                <a:latin typeface="Arial"/>
              </a:rPr>
              <a:t>Use the matching lab's prerequisites and supplied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3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content pillars and a stable tension-promise-proof-action hierarchy.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seven format-specific captions and relevant hashtag sets.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image, carousel, Stories, and Reels briefs with mobile-first checks.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Score grounding, voice, customer value, rights, and action alignment.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the Test It checks and save the verified checkpoint.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Content Calendar Agent and Publishing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convert the reviewed content kit into a seven-day Instagram calendar and a draft-first publishing workflow. The workflow can prepare and validate a schedule, but it stops at the human approval gate before Meta Business Suite or an API publishing action.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43984"/>
            <a:ext cx="10058400" cy="841248"/>
          </a:xfrm>
          <a:prstGeom prst="rect">
            <a:avLst/>
          </a:prstGeom>
          <a:noFill/>
        </p:spPr>
        <p:txBody>
          <a:bodyPr wrap="square" anchor="t">
            <a:spAutoFit/>
          </a:bodyPr>
          <a:lstStyle/>
          <a:p>
            <a:pPr algn="l">
              <a:spcAft>
                <a:spcPts val="400"/>
              </a:spcAft>
            </a:pPr>
            <a:r>
              <a:rPr sz="1500" b="1">
                <a:solidFill>
                  <a:srgbClr val="161B26"/>
                </a:solidFill>
                <a:latin typeface="Arial"/>
              </a:rPr>
              <a:t>C695-campaign-pack/04-calendar-and-publishing-workflow.md plus 04-instagram-calendar.csv containing seven scheduled drafts, validation rules, a node-by-node n8n-style workflow, approval evidence, error handling, and a dry-run log.</a:t>
            </a:r>
          </a:p>
        </p:txBody>
      </p:sp>
      <p:sp>
        <p:nvSpPr>
          <p:cNvPr id="13" name="TextBox 12"/>
          <p:cNvSpPr txBox="1"/>
          <p:nvPr/>
        </p:nvSpPr>
        <p:spPr>
          <a:xfrm>
            <a:off x="1005840" y="5340096"/>
            <a:ext cx="10241280" cy="310896"/>
          </a:xfrm>
          <a:prstGeom prst="rect">
            <a:avLst/>
          </a:prstGeom>
          <a:noFill/>
        </p:spPr>
        <p:txBody>
          <a:bodyPr wrap="square" anchor="t">
            <a:spAutoFit/>
          </a:bodyPr>
          <a:lstStyle/>
          <a:p>
            <a:pPr algn="l">
              <a:spcAft>
                <a:spcPts val="400"/>
              </a:spcAft>
            </a:pPr>
            <a:r>
              <a:rPr sz="1400" b="1">
                <a:solidFill>
                  <a:srgbClr val="5B6372"/>
                </a:solidFill>
                <a:latin typeface="Arial"/>
              </a:rPr>
              <a:t>Resources:  </a:t>
            </a:r>
            <a:r>
              <a:rPr sz="1400" b="0">
                <a:solidFill>
                  <a:srgbClr val="5B6372"/>
                </a:solidFill>
                <a:latin typeface="Arial"/>
              </a:rPr>
              <a:t>Use the matching lab's prerequisites and supplied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4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Turn reviewed content into a seven-day queue with content and learning balance.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required fields, status transitions, approval evidence, and duplicate keys.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Design the trigger, validation, review, publish-placeholder, logging, and error paths.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safe and unsafe dry-run rows and verify the workflow stops correctly.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the Test It checks and save the verified checkpoint.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AI-Powered Content Creation and Scheduling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Generate an on-brand Instagram content system with captions, hashtags, image briefs, and Reels ideas grounded in approved evidence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Build a brand-consistent calendar agent and controlled scheduling workflow with approval, duplicate prevention, failure handling, and verification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Automating Engagement and Community Management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comments and direct messages | lead capture | personalised responses | reviews and UGC | privacy and responsible AI</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Automating Engagement and Community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Intent before tone</a:t>
            </a:r>
          </a:p>
          <a:p>
            <a:pPr algn="l">
              <a:spcAft>
                <a:spcPts val="300"/>
              </a:spcAft>
            </a:pPr>
            <a:r>
              <a:rPr sz="1200" b="0">
                <a:solidFill>
                  <a:srgbClr val="5B6372"/>
                </a:solidFill>
                <a:latin typeface="Arial"/>
              </a:rPr>
              <a:t>Identify what the person needs and the risk of the request before writing a polished reply.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Public or private</a:t>
            </a:r>
          </a:p>
          <a:p>
            <a:pPr algn="l">
              <a:spcAft>
                <a:spcPts val="300"/>
              </a:spcAft>
            </a:pPr>
            <a:r>
              <a:rPr sz="1200" b="0">
                <a:solidFill>
                  <a:srgbClr val="5B6372"/>
                </a:solidFill>
                <a:latin typeface="Arial"/>
              </a:rPr>
              <a:t>Keep general information public; move order, contact, payment, and sensitive details to an approved private channel.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Minimum data</a:t>
            </a:r>
          </a:p>
          <a:p>
            <a:pPr algn="l">
              <a:spcAft>
                <a:spcPts val="300"/>
              </a:spcAft>
            </a:pPr>
            <a:r>
              <a:rPr sz="1200" b="0">
                <a:solidFill>
                  <a:srgbClr val="5B6372"/>
                </a:solidFill>
                <a:latin typeface="Arial"/>
              </a:rPr>
              <a:t>Capture only the fields needed for the stated follow-up and keep raw personal data out of AI prompts.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Consent and purpose</a:t>
            </a:r>
          </a:p>
          <a:p>
            <a:pPr algn="l">
              <a:spcAft>
                <a:spcPts val="300"/>
              </a:spcAft>
            </a:pPr>
            <a:r>
              <a:rPr sz="1200" b="0">
                <a:solidFill>
                  <a:srgbClr val="5B6372"/>
                </a:solidFill>
                <a:latin typeface="Arial"/>
              </a:rPr>
              <a:t>Explain why information is requested and use it only for the authorised purpose and retention period.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Personalise from context</a:t>
            </a:r>
          </a:p>
          <a:p>
            <a:pPr algn="l">
              <a:spcAft>
                <a:spcPts val="300"/>
              </a:spcAft>
            </a:pPr>
            <a:r>
              <a:rPr sz="1200" b="0">
                <a:solidFill>
                  <a:srgbClr val="5B6372"/>
                </a:solidFill>
                <a:latin typeface="Arial"/>
              </a:rPr>
              <a:t>Adapt approved facts and language without inferring sensitive traits or inventing familiarity.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Escalate impact</a:t>
            </a:r>
          </a:p>
          <a:p>
            <a:pPr algn="l">
              <a:spcAft>
                <a:spcPts val="300"/>
              </a:spcAft>
            </a:pPr>
            <a:r>
              <a:rPr sz="1200" b="0">
                <a:solidFill>
                  <a:srgbClr val="5B6372"/>
                </a:solidFill>
                <a:latin typeface="Arial"/>
              </a:rPr>
              <a:t>Safety, allergy, payment, complaint, privacy, legal, and order-change cases need a named human owner.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Automating Engagement and Community Management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UGC requires permission</a:t>
            </a:r>
          </a:p>
          <a:p>
            <a:pPr algn="l">
              <a:spcAft>
                <a:spcPts val="300"/>
              </a:spcAft>
            </a:pPr>
            <a:r>
              <a:rPr sz="1200" b="0">
                <a:solidFill>
                  <a:srgbClr val="5B6372"/>
                </a:solidFill>
                <a:latin typeface="Arial"/>
              </a:rPr>
              <a:t>A public mention is not automatic permission to reuse a person's image, words, name, or likeness.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Learn from labels</a:t>
            </a:r>
          </a:p>
          <a:p>
            <a:pPr algn="l">
              <a:spcAft>
                <a:spcPts val="300"/>
              </a:spcAft>
            </a:pPr>
            <a:r>
              <a:rPr sz="1200" b="0">
                <a:solidFill>
                  <a:srgbClr val="5B6372"/>
                </a:solidFill>
                <a:latin typeface="Arial"/>
              </a:rPr>
              <a:t>Store intent, risk, decision, correction, and outcome so rules improve without retaining unnecessary content.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COMMUNITY SYSTEM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Engagement Is a Service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Comment or message</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Identify intent</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Retrieve approved facts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Draft or escalate</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Human review</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Reply and log</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TRIAGE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Intent and Risk Routing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Informational</a:t>
            </a:r>
          </a:p>
          <a:p>
            <a:pPr algn="l">
              <a:spcAft>
                <a:spcPts val="300"/>
              </a:spcAft>
            </a:pPr>
            <a:r>
              <a:rPr sz="1200" b="0">
                <a:solidFill>
                  <a:srgbClr val="5B6372"/>
                </a:solidFill>
                <a:latin typeface="Arial"/>
              </a:rPr>
              <a:t>Approved hours, location, product contents, process, or link; draft from the knowledge source.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Commercial</a:t>
            </a:r>
          </a:p>
          <a:p>
            <a:pPr algn="l">
              <a:spcAft>
                <a:spcPts val="300"/>
              </a:spcAft>
            </a:pPr>
            <a:r>
              <a:rPr sz="1200" b="0">
                <a:solidFill>
                  <a:srgbClr val="5B6372"/>
                </a:solidFill>
                <a:latin typeface="Arial"/>
              </a:rPr>
              <a:t>Product fit or availability; answer approved facts and invite one authorised next step.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Lead</a:t>
            </a:r>
          </a:p>
          <a:p>
            <a:pPr algn="l">
              <a:spcAft>
                <a:spcPts val="300"/>
              </a:spcAft>
            </a:pPr>
            <a:r>
              <a:rPr sz="1200" b="0">
                <a:solidFill>
                  <a:srgbClr val="5B6372"/>
                </a:solidFill>
                <a:latin typeface="Arial"/>
              </a:rPr>
              <a:t>A person asks for follow-up; request the minimum fields through an approved private route.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Service</a:t>
            </a:r>
          </a:p>
          <a:p>
            <a:pPr algn="l">
              <a:spcAft>
                <a:spcPts val="300"/>
              </a:spcAft>
            </a:pPr>
            <a:r>
              <a:rPr sz="1200" b="0">
                <a:solidFill>
                  <a:srgbClr val="5B6372"/>
                </a:solidFill>
                <a:latin typeface="Arial"/>
              </a:rPr>
              <a:t>An order-specific request; authenticate and hand off to the service owner.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Sensitive</a:t>
            </a:r>
          </a:p>
          <a:p>
            <a:pPr algn="l">
              <a:spcAft>
                <a:spcPts val="300"/>
              </a:spcAft>
            </a:pPr>
            <a:r>
              <a:rPr sz="1200" b="0">
                <a:solidFill>
                  <a:srgbClr val="5B6372"/>
                </a:solidFill>
                <a:latin typeface="Arial"/>
              </a:rPr>
              <a:t>Health, payment, privacy, legal, or safety content; stop and escalate immediately.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Abuse or spam</a:t>
            </a:r>
          </a:p>
          <a:p>
            <a:pPr algn="l">
              <a:spcAft>
                <a:spcPts val="300"/>
              </a:spcAft>
            </a:pPr>
            <a:r>
              <a:rPr sz="1200" b="0">
                <a:solidFill>
                  <a:srgbClr val="5B6372"/>
                </a:solidFill>
                <a:latin typeface="Arial"/>
              </a:rPr>
              <a:t>Apply documented moderation rules and preserve context for review.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LEAD HAND-OFF</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Lead Capture and Follow-Up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Clear invitation</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Purpose notice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Minimum fields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Consent or lawful basis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Assigned owner</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Timed follow-up and deletion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HUMAN BOUNDARY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Personalised Responses and Escalation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Safe personalisation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Escalate or refuse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Use the stated question and approved context</a:t>
            </a:r>
          </a:p>
          <a:p>
            <a:pPr>
              <a:spcAft>
                <a:spcPts val="1000"/>
              </a:spcAft>
            </a:pPr>
            <a:r>
              <a:rPr sz="1600" b="0">
                <a:solidFill>
                  <a:srgbClr val="161B26"/>
                </a:solidFill>
                <a:latin typeface="Arial"/>
              </a:rPr>
              <a:t>•  Mirror formality without imitating identity</a:t>
            </a:r>
          </a:p>
          <a:p>
            <a:pPr>
              <a:spcAft>
                <a:spcPts val="1000"/>
              </a:spcAft>
            </a:pPr>
            <a:r>
              <a:rPr sz="1600" b="0">
                <a:solidFill>
                  <a:srgbClr val="161B26"/>
                </a:solidFill>
                <a:latin typeface="Arial"/>
              </a:rPr>
              <a:t>•  Offer one relevant authorised next step</a:t>
            </a:r>
          </a:p>
          <a:p>
            <a:pPr>
              <a:spcAft>
                <a:spcPts val="1000"/>
              </a:spcAft>
            </a:pPr>
            <a:r>
              <a:rPr sz="1600" b="0">
                <a:solidFill>
                  <a:srgbClr val="161B26"/>
                </a:solidFill>
                <a:latin typeface="Arial"/>
              </a:rPr>
              <a:t>•  Acknowledge uncertainty and hand off clearly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Do not infer health, wealth, ethnicity, or vulnerability</a:t>
            </a:r>
          </a:p>
          <a:p>
            <a:pPr>
              <a:spcAft>
                <a:spcPts val="1000"/>
              </a:spcAft>
            </a:pPr>
            <a:r>
              <a:rPr sz="1600" b="0">
                <a:solidFill>
                  <a:srgbClr val="161B26"/>
                </a:solidFill>
                <a:latin typeface="Arial"/>
              </a:rPr>
              <a:t>•  Do not confirm refunds, order changes, or compensation</a:t>
            </a:r>
          </a:p>
          <a:p>
            <a:pPr>
              <a:spcAft>
                <a:spcPts val="1000"/>
              </a:spcAft>
            </a:pPr>
            <a:r>
              <a:rPr sz="1600" b="0">
                <a:solidFill>
                  <a:srgbClr val="161B26"/>
                </a:solidFill>
                <a:latin typeface="Arial"/>
              </a:rPr>
              <a:t>•  Do not request credentials or sensitive data in public</a:t>
            </a:r>
          </a:p>
          <a:p>
            <a:pPr>
              <a:spcAft>
                <a:spcPts val="1000"/>
              </a:spcAft>
            </a:pPr>
            <a:r>
              <a:rPr sz="1600" b="0">
                <a:solidFill>
                  <a:srgbClr val="161B26"/>
                </a:solidFill>
                <a:latin typeface="Arial"/>
              </a:rPr>
              <a:t>•  Do not argue about safety, privacy, legal, or crisis claims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COMMUNITY RIGHTS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Reviews and User-Generated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Discover</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Verify context</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Ask permission</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Record scope</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Edit transparently</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Publish with attribution or decline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BEFORE ANY REPLY OR REUSE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Privacy, Copyright, and Responsible AI Gate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Is the use appropriate, explained, and limited to the intended service or marketing purpose?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a:t>
            </a:r>
          </a:p>
          <a:p>
            <a:pPr algn="l">
              <a:spcAft>
                <a:spcPts val="300"/>
              </a:spcAft>
            </a:pPr>
            <a:r>
              <a:rPr sz="1200" b="0">
                <a:solidFill>
                  <a:srgbClr val="5B6372"/>
                </a:solidFill>
                <a:latin typeface="Arial"/>
              </a:rPr>
              <a:t>Can identifiers, message content, or metadata be minimised, masked, or avoided?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Rights</a:t>
            </a:r>
          </a:p>
          <a:p>
            <a:pPr algn="l">
              <a:spcAft>
                <a:spcPts val="300"/>
              </a:spcAft>
            </a:pPr>
            <a:r>
              <a:rPr sz="1200" b="0">
                <a:solidFill>
                  <a:srgbClr val="5B6372"/>
                </a:solidFill>
                <a:latin typeface="Arial"/>
              </a:rPr>
              <a:t>Do we have authority to use the image, music, words, name, likeness, and brand assets?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Truth</a:t>
            </a:r>
          </a:p>
          <a:p>
            <a:pPr algn="l">
              <a:spcAft>
                <a:spcPts val="300"/>
              </a:spcAft>
            </a:pPr>
            <a:r>
              <a:rPr sz="1200" b="0">
                <a:solidFill>
                  <a:srgbClr val="5B6372"/>
                </a:solidFill>
                <a:latin typeface="Arial"/>
              </a:rPr>
              <a:t>Are claims, urgency, endorsements, and product details supported by approved evidence?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Fairness</a:t>
            </a:r>
          </a:p>
          <a:p>
            <a:pPr algn="l">
              <a:spcAft>
                <a:spcPts val="300"/>
              </a:spcAft>
            </a:pPr>
            <a:r>
              <a:rPr sz="1200" b="0">
                <a:solidFill>
                  <a:srgbClr val="5B6372"/>
                </a:solidFill>
                <a:latin typeface="Arial"/>
              </a:rPr>
              <a:t>Does the output avoid stereotypes, exclusion, manipulation, and unsupported sensitive inference?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Accountability</a:t>
            </a:r>
          </a:p>
          <a:p>
            <a:pPr algn="l">
              <a:spcAft>
                <a:spcPts val="300"/>
              </a:spcAft>
            </a:pPr>
            <a:r>
              <a:rPr sz="1200" b="0">
                <a:solidFill>
                  <a:srgbClr val="5B6372"/>
                </a:solidFill>
                <a:latin typeface="Arial"/>
              </a:rPr>
              <a:t>Is there a reviewer, decision log, correction path, and disable switch?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Automating Engagement and Community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Comment and Direct-Message Response Router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the UGC, Review, Privacy and Escalation Runbook</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Comment and Direct-Message Response Router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design a community agent that routes eight synthetic Instagram comments and direct messages without exposing identifiers or promising unauthorised outcomes. The router drafts from approved facts for routine cases, captures only minimum lead fields, and stops for safety, allergy, payment, refund, privacy, or order-specific requests.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43984"/>
            <a:ext cx="10058400" cy="841248"/>
          </a:xfrm>
          <a:prstGeom prst="rect">
            <a:avLst/>
          </a:prstGeom>
          <a:noFill/>
        </p:spPr>
        <p:txBody>
          <a:bodyPr wrap="square" anchor="t">
            <a:spAutoFit/>
          </a:bodyPr>
          <a:lstStyle/>
          <a:p>
            <a:pPr algn="l">
              <a:spcAft>
                <a:spcPts val="400"/>
              </a:spcAft>
            </a:pPr>
            <a:r>
              <a:rPr sz="1500" b="1">
                <a:solidFill>
                  <a:srgbClr val="161B26"/>
                </a:solidFill>
                <a:latin typeface="Arial"/>
              </a:rPr>
              <a:t>C695-campaign-pack/05-community-response-router.md plus 05-response-queue.csv containing the intent taxonomy, risk rules, minimum-data lead schema, reviewed response drafts, escalation owners, and a workflow dry-run.</a:t>
            </a:r>
          </a:p>
        </p:txBody>
      </p:sp>
      <p:sp>
        <p:nvSpPr>
          <p:cNvPr id="13" name="TextBox 12"/>
          <p:cNvSpPr txBox="1"/>
          <p:nvPr/>
        </p:nvSpPr>
        <p:spPr>
          <a:xfrm>
            <a:off x="1005840" y="5340096"/>
            <a:ext cx="10241280" cy="310896"/>
          </a:xfrm>
          <a:prstGeom prst="rect">
            <a:avLst/>
          </a:prstGeom>
          <a:noFill/>
        </p:spPr>
        <p:txBody>
          <a:bodyPr wrap="square" anchor="t">
            <a:spAutoFit/>
          </a:bodyPr>
          <a:lstStyle/>
          <a:p>
            <a:pPr algn="l">
              <a:spcAft>
                <a:spcPts val="400"/>
              </a:spcAft>
            </a:pPr>
            <a:r>
              <a:rPr sz="1400" b="1">
                <a:solidFill>
                  <a:srgbClr val="5B6372"/>
                </a:solidFill>
                <a:latin typeface="Arial"/>
              </a:rPr>
              <a:t>Resources:  </a:t>
            </a:r>
            <a:r>
              <a:rPr sz="1400" b="0">
                <a:solidFill>
                  <a:srgbClr val="5B6372"/>
                </a:solidFill>
                <a:latin typeface="Arial"/>
              </a:rPr>
              <a:t>Use the matching lab's prerequisites and supplied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5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intent, risk, public/private route, and escalation ownership.</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Mask identifiers and classify eight synthetic community scenarios.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Draft only from approved facts and design minimum-data lead capture.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Dry-run routing, confidence, approval, logging, and exception paths.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the Test It checks and save the verified checkpoint.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the UGC, Review, Privacy and Escalation Runbook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extend the community router with a rights and responsibility gate for reviews and user-generated content. The runbook records permission scope, checks AI drafts for truthful and fair treatment, and gives the team a practical response when content, privacy, or automation goes wrong.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43984"/>
            <a:ext cx="10058400" cy="841248"/>
          </a:xfrm>
          <a:prstGeom prst="rect">
            <a:avLst/>
          </a:prstGeom>
          <a:noFill/>
        </p:spPr>
        <p:txBody>
          <a:bodyPr wrap="square" anchor="t">
            <a:spAutoFit/>
          </a:bodyPr>
          <a:lstStyle/>
          <a:p>
            <a:pPr algn="l">
              <a:spcAft>
                <a:spcPts val="400"/>
              </a:spcAft>
            </a:pPr>
            <a:r>
              <a:rPr sz="1500" b="1">
                <a:solidFill>
                  <a:srgbClr val="161B26"/>
                </a:solidFill>
                <a:latin typeface="Arial"/>
              </a:rPr>
              <a:t>C695-campaign-pack/06-ugc-and-governance-runbook.md plus 06-ugc-permission-register.csv containing rights decisions, privacy and truth checks, escalation templates, retention rules, and an incident simulation.</a:t>
            </a:r>
          </a:p>
        </p:txBody>
      </p:sp>
      <p:sp>
        <p:nvSpPr>
          <p:cNvPr id="13" name="TextBox 12"/>
          <p:cNvSpPr txBox="1"/>
          <p:nvPr/>
        </p:nvSpPr>
        <p:spPr>
          <a:xfrm>
            <a:off x="1005840" y="5340096"/>
            <a:ext cx="10241280" cy="310896"/>
          </a:xfrm>
          <a:prstGeom prst="rect">
            <a:avLst/>
          </a:prstGeom>
          <a:noFill/>
        </p:spPr>
        <p:txBody>
          <a:bodyPr wrap="square" anchor="t">
            <a:spAutoFit/>
          </a:bodyPr>
          <a:lstStyle/>
          <a:p>
            <a:pPr algn="l">
              <a:spcAft>
                <a:spcPts val="400"/>
              </a:spcAft>
            </a:pPr>
            <a:r>
              <a:rPr sz="1400" b="1">
                <a:solidFill>
                  <a:srgbClr val="5B6372"/>
                </a:solidFill>
                <a:latin typeface="Arial"/>
              </a:rPr>
              <a:t>Resources:  </a:t>
            </a:r>
            <a:r>
              <a:rPr sz="1400" b="0">
                <a:solidFill>
                  <a:srgbClr val="5B6372"/>
                </a:solidFill>
                <a:latin typeface="Arial"/>
              </a:rPr>
              <a:t>Use the matching lab's prerequisites and supplied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6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Separate discovery, response, permission request, reuse, and withdrawal decisions.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image, music, words, names, likeness, brand, and location rights.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Apply privacy, truth, fairness, platform, and human-review gates.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Simulate an incident, contain impact, correct the source, and test restoration.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the Test It checks and save the verified checkpoint.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Automating Engagement and Community Management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LO3: Design a governed workflow for comment and direct-message intent, risk, lead capture, personalised drafts, follow-up, and human escalation</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Apply privacy, copyright, platform, brand, and escalation rules to reviews, user-generated content, community responses, and AI-supported incident handling</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Analytics, Ads and Optimisation with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Instagram Insights | reports and dashboards | ads | audience, budget and creative | retargeting | feedback loops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Analytics, Ads and Optimisation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Define before calculating</a:t>
            </a:r>
          </a:p>
          <a:p>
            <a:pPr algn="l">
              <a:spcAft>
                <a:spcPts val="300"/>
              </a:spcAft>
            </a:pPr>
            <a:r>
              <a:rPr sz="1200" b="0">
                <a:solidFill>
                  <a:srgbClr val="5B6372"/>
                </a:solidFill>
                <a:latin typeface="Arial"/>
              </a:rPr>
              <a:t>Every metric needs a source, numerator, denominator, window, scope, and known limitation.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Separate reach from views</a:t>
            </a:r>
          </a:p>
          <a:p>
            <a:pPr algn="l">
              <a:spcAft>
                <a:spcPts val="300"/>
              </a:spcAft>
            </a:pPr>
            <a:r>
              <a:rPr sz="1200" b="0">
                <a:solidFill>
                  <a:srgbClr val="5B6372"/>
                </a:solidFill>
                <a:latin typeface="Arial"/>
              </a:rPr>
              <a:t>Unique accounts and repeated displays answer different delivery questions.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Follow the funnel</a:t>
            </a:r>
          </a:p>
          <a:p>
            <a:pPr algn="l">
              <a:spcAft>
                <a:spcPts val="300"/>
              </a:spcAft>
            </a:pPr>
            <a:r>
              <a:rPr sz="1200" b="0">
                <a:solidFill>
                  <a:srgbClr val="5B6372"/>
                </a:solidFill>
                <a:latin typeface="Arial"/>
              </a:rPr>
              <a:t>Content discovery, interaction, profile action, site action, conversion, and value are different transitions.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Report evidence</a:t>
            </a:r>
          </a:p>
          <a:p>
            <a:pPr algn="l">
              <a:spcAft>
                <a:spcPts val="300"/>
              </a:spcAft>
            </a:pPr>
            <a:r>
              <a:rPr sz="1200" b="0">
                <a:solidFill>
                  <a:srgbClr val="5B6372"/>
                </a:solidFill>
                <a:latin typeface="Arial"/>
              </a:rPr>
              <a:t>A narrative claim must point to a metric, period, comparison, source row, and uncertainty.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Ads hierarchy</a:t>
            </a:r>
          </a:p>
          <a:p>
            <a:pPr algn="l">
              <a:spcAft>
                <a:spcPts val="300"/>
              </a:spcAft>
            </a:pPr>
            <a:r>
              <a:rPr sz="1200" b="0">
                <a:solidFill>
                  <a:srgbClr val="5B6372"/>
                </a:solidFill>
                <a:latin typeface="Arial"/>
              </a:rPr>
              <a:t>Campaign objective, ad-set audience and budget, and ad creative must agree with the customer action.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Diagnose before changing</a:t>
            </a:r>
          </a:p>
          <a:p>
            <a:pPr algn="l">
              <a:spcAft>
                <a:spcPts val="300"/>
              </a:spcAft>
            </a:pPr>
            <a:r>
              <a:rPr sz="1200" b="0">
                <a:solidFill>
                  <a:srgbClr val="5B6372"/>
                </a:solidFill>
                <a:latin typeface="Arial"/>
              </a:rPr>
              <a:t>Validate data and locate the weak transition before choosing a lever.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Analytics, Ads and Optimisation with AI Agents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Retarget responsibly</a:t>
            </a:r>
          </a:p>
          <a:p>
            <a:pPr algn="l">
              <a:spcAft>
                <a:spcPts val="300"/>
              </a:spcAft>
            </a:pPr>
            <a:r>
              <a:rPr sz="1200" b="0">
                <a:solidFill>
                  <a:srgbClr val="5B6372"/>
                </a:solidFill>
                <a:latin typeface="Arial"/>
              </a:rPr>
              <a:t>Use authorised signals, exclusions, retention, frequency, and customer expectations.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 controlled change</a:t>
            </a:r>
          </a:p>
          <a:p>
            <a:pPr algn="l">
              <a:spcAft>
                <a:spcPts val="300"/>
              </a:spcAft>
            </a:pPr>
            <a:r>
              <a:rPr sz="1200" b="0">
                <a:solidFill>
                  <a:srgbClr val="5B6372"/>
                </a:solidFill>
                <a:latin typeface="Arial"/>
              </a:rPr>
              <a:t>Set a hypothesis, approval, observation window, guardrails, and rollback before iterating.</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MEASUREMENT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Instagram Insights and the Metric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Delivery</a:t>
            </a:r>
          </a:p>
          <a:p>
            <a:pPr algn="l">
              <a:spcAft>
                <a:spcPts val="300"/>
              </a:spcAft>
            </a:pPr>
            <a:r>
              <a:rPr sz="1200" b="0">
                <a:solidFill>
                  <a:srgbClr val="5B6372"/>
                </a:solidFill>
                <a:latin typeface="Arial"/>
              </a:rPr>
              <a:t>Views, impressions where available, accounts reached, and follower or non-follower distribution.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Interaction</a:t>
            </a:r>
          </a:p>
          <a:p>
            <a:pPr algn="l">
              <a:spcAft>
                <a:spcPts val="300"/>
              </a:spcAft>
            </a:pPr>
            <a:r>
              <a:rPr sz="1200" b="0">
                <a:solidFill>
                  <a:srgbClr val="5B6372"/>
                </a:solidFill>
                <a:latin typeface="Arial"/>
              </a:rPr>
              <a:t>Likes, comments, saves, shares, replies, and accounts engaged.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Intent</a:t>
            </a:r>
          </a:p>
          <a:p>
            <a:pPr algn="l">
              <a:spcAft>
                <a:spcPts val="300"/>
              </a:spcAft>
            </a:pPr>
            <a:r>
              <a:rPr sz="1200" b="0">
                <a:solidFill>
                  <a:srgbClr val="5B6372"/>
                </a:solidFill>
                <a:latin typeface="Arial"/>
              </a:rPr>
              <a:t>Profile visits, link clicks, website taps, messages, and lead actions where configured.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Conversion</a:t>
            </a:r>
          </a:p>
          <a:p>
            <a:pPr algn="l">
              <a:spcAft>
                <a:spcPts val="300"/>
              </a:spcAft>
            </a:pPr>
            <a:r>
              <a:rPr sz="1200" b="0">
                <a:solidFill>
                  <a:srgbClr val="5B6372"/>
                </a:solidFill>
                <a:latin typeface="Arial"/>
              </a:rPr>
              <a:t>Completed orders or leads from an authorised commerce or analytics source.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Paid</a:t>
            </a:r>
          </a:p>
          <a:p>
            <a:pPr algn="l">
              <a:spcAft>
                <a:spcPts val="300"/>
              </a:spcAft>
            </a:pPr>
            <a:r>
              <a:rPr sz="1200" b="0">
                <a:solidFill>
                  <a:srgbClr val="5B6372"/>
                </a:solidFill>
                <a:latin typeface="Arial"/>
              </a:rPr>
              <a:t>Spend, result count, cost per result, CPM, CTR, CPC, CPA, and attributed value.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Guardrails</a:t>
            </a:r>
          </a:p>
          <a:p>
            <a:pPr algn="l">
              <a:spcAft>
                <a:spcPts val="300"/>
              </a:spcAft>
            </a:pPr>
            <a:r>
              <a:rPr sz="1200" b="0">
                <a:solidFill>
                  <a:srgbClr val="5B6372"/>
                </a:solidFill>
                <a:latin typeface="Arial"/>
              </a:rPr>
              <a:t>Negative feedback, complaint rate, rights concerns, tracking health, and fulfilment capacity.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EVIDENCE TO DECISION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Automated Reports and Decision Dashboards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Validate extract</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Calculate defined metrics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Compare to baseline</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Explain driver candidates</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Recommend one decision</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Log caveats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CAMPAIGN STRUCTURE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AI-Assisted Instagram Ads Campaigns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Campaign</a:t>
            </a:r>
          </a:p>
          <a:p>
            <a:pPr algn="l">
              <a:spcAft>
                <a:spcPts val="300"/>
              </a:spcAft>
            </a:pPr>
            <a:r>
              <a:rPr sz="1200" b="0">
                <a:solidFill>
                  <a:srgbClr val="5B6372"/>
                </a:solidFill>
                <a:latin typeface="Arial"/>
              </a:rPr>
              <a:t>Choose the objective that matches the larger business goal and experiment context.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 set</a:t>
            </a:r>
          </a:p>
          <a:p>
            <a:pPr algn="l">
              <a:spcAft>
                <a:spcPts val="300"/>
              </a:spcAft>
            </a:pPr>
            <a:r>
              <a:rPr sz="1200" b="0">
                <a:solidFill>
                  <a:srgbClr val="5B6372"/>
                </a:solidFill>
                <a:latin typeface="Arial"/>
              </a:rPr>
              <a:t>Define audience role, conversion location, event, budget, schedule, placements, and exclusions.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a:t>
            </a:r>
          </a:p>
          <a:p>
            <a:pPr algn="l">
              <a:spcAft>
                <a:spcPts val="300"/>
              </a:spcAft>
            </a:pPr>
            <a:r>
              <a:rPr sz="1200" b="0">
                <a:solidFill>
                  <a:srgbClr val="5B6372"/>
                </a:solidFill>
                <a:latin typeface="Arial"/>
              </a:rPr>
              <a:t>Align identity, format, creative, primary text, destination, and tracking.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Preflight</a:t>
            </a:r>
          </a:p>
          <a:p>
            <a:pPr algn="l">
              <a:spcAft>
                <a:spcPts val="300"/>
              </a:spcAft>
            </a:pPr>
            <a:r>
              <a:rPr sz="1200" b="0">
                <a:solidFill>
                  <a:srgbClr val="5B6372"/>
                </a:solidFill>
                <a:latin typeface="Arial"/>
              </a:rPr>
              <a:t>Verify account, permissions, event, destination, claims, rights, naming, and approval.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Agent role</a:t>
            </a:r>
          </a:p>
          <a:p>
            <a:pPr algn="l">
              <a:spcAft>
                <a:spcPts val="300"/>
              </a:spcAft>
            </a:pPr>
            <a:r>
              <a:rPr sz="1200" b="0">
                <a:solidFill>
                  <a:srgbClr val="5B6372"/>
                </a:solidFill>
                <a:latin typeface="Arial"/>
              </a:rPr>
              <a:t>Draft structures, detect contradictions, calculate options, and recommend; do not activate spend.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role</a:t>
            </a:r>
          </a:p>
          <a:p>
            <a:pPr algn="l">
              <a:spcAft>
                <a:spcPts val="300"/>
              </a:spcAft>
            </a:pPr>
            <a:r>
              <a:rPr sz="1200" b="0">
                <a:solidFill>
                  <a:srgbClr val="5B6372"/>
                </a:solidFill>
                <a:latin typeface="Arial"/>
              </a:rPr>
              <a:t>Own objective, data rights, budget, final creative, activation, monitoring, and rollback.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CHOOSE THE LEVER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Audience, Budget, and Creative Optimisation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Evidence pattern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Bounded investigation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Delivery cost or frequency changes</a:t>
            </a:r>
          </a:p>
          <a:p>
            <a:pPr>
              <a:spcAft>
                <a:spcPts val="1000"/>
              </a:spcAft>
            </a:pPr>
            <a:r>
              <a:rPr sz="1600" b="0">
                <a:solidFill>
                  <a:srgbClr val="161B26"/>
                </a:solidFill>
                <a:latin typeface="Arial"/>
              </a:rPr>
              <a:t>•  Healthy delivery but weak qualified action</a:t>
            </a:r>
          </a:p>
          <a:p>
            <a:pPr>
              <a:spcAft>
                <a:spcPts val="1000"/>
              </a:spcAft>
            </a:pPr>
            <a:r>
              <a:rPr sz="1600" b="0">
                <a:solidFill>
                  <a:srgbClr val="161B26"/>
                </a:solidFill>
                <a:latin typeface="Arial"/>
              </a:rPr>
              <a:t>•  Strong click or profile action, weak conversion</a:t>
            </a:r>
          </a:p>
          <a:p>
            <a:pPr>
              <a:spcAft>
                <a:spcPts val="1000"/>
              </a:spcAft>
            </a:pPr>
            <a:r>
              <a:rPr sz="1600" b="0">
                <a:solidFill>
                  <a:srgbClr val="161B26"/>
                </a:solidFill>
                <a:latin typeface="Arial"/>
              </a:rPr>
              <a:t>•  One creative angle consistently differs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Inspect audience pressure, placement, seasonality, and auction context</a:t>
            </a:r>
          </a:p>
          <a:p>
            <a:pPr>
              <a:spcAft>
                <a:spcPts val="1000"/>
              </a:spcAft>
            </a:pPr>
            <a:r>
              <a:rPr sz="1600" b="0">
                <a:solidFill>
                  <a:srgbClr val="161B26"/>
                </a:solidFill>
                <a:latin typeface="Arial"/>
              </a:rPr>
              <a:t>•  Inspect creative relevance, promise, format, and call to action</a:t>
            </a:r>
          </a:p>
          <a:p>
            <a:pPr>
              <a:spcAft>
                <a:spcPts val="1000"/>
              </a:spcAft>
            </a:pPr>
            <a:r>
              <a:rPr sz="1600" b="0">
                <a:solidFill>
                  <a:srgbClr val="161B26"/>
                </a:solidFill>
                <a:latin typeface="Arial"/>
              </a:rPr>
              <a:t>•  Inspect destination, offer, event quality, friction, and attribution</a:t>
            </a:r>
          </a:p>
          <a:p>
            <a:pPr>
              <a:spcAft>
                <a:spcPts val="1000"/>
              </a:spcAft>
            </a:pPr>
            <a:r>
              <a:rPr sz="1600" b="0">
                <a:solidFill>
                  <a:srgbClr val="161B26"/>
                </a:solidFill>
                <a:latin typeface="Arial"/>
              </a:rPr>
              <a:t>•  Run a one-variable test with stable audience, budget, and window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RELEVANT RE-ENGAGEMENT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Retargeting by Customer State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Authorised signal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Customer state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Useful next message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Exclusions and frequency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Conversion or suppression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LEARN SAFELY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Continuous Improvement with a Governed Feedback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Observe</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Validate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Diagnose</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Propose</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Approve and test</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Measure, log, or rollback</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Analytics, Ads and Optimisation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Instagram Insights Dashboard and Evidence-Linked Report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and Simulate the Instagram Ads, Retargeting and Optimisation Loop</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Instagram Insights Dashboard and Evidence-Linked Report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validate a synthetic Instagram performance export, calculate clearly defined organic and paid metrics, and build a compact decision dashboard. The report separates observation from hypothesis, cites source rows and date scope, protects guardrails, and recommends one controlled learning action.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43984"/>
            <a:ext cx="10058400" cy="841248"/>
          </a:xfrm>
          <a:prstGeom prst="rect">
            <a:avLst/>
          </a:prstGeom>
          <a:noFill/>
        </p:spPr>
        <p:txBody>
          <a:bodyPr wrap="square" anchor="t">
            <a:spAutoFit/>
          </a:bodyPr>
          <a:lstStyle/>
          <a:p>
            <a:pPr algn="l">
              <a:spcAft>
                <a:spcPts val="400"/>
              </a:spcAft>
            </a:pPr>
            <a:r>
              <a:rPr sz="1500" b="1">
                <a:solidFill>
                  <a:srgbClr val="161B26"/>
                </a:solidFill>
                <a:latin typeface="Arial"/>
              </a:rPr>
              <a:t>C695-campaign-pack/07-insights-dashboard.xlsx plus optional 07-insights-dashboard-flat.csv and 07-performance-report.md containing validated calculations, format comparisons, funnel diagnosis, source-linked findings, caveats, and one bounded recommendation.</a:t>
            </a:r>
          </a:p>
        </p:txBody>
      </p:sp>
      <p:sp>
        <p:nvSpPr>
          <p:cNvPr id="13" name="TextBox 12"/>
          <p:cNvSpPr txBox="1"/>
          <p:nvPr/>
        </p:nvSpPr>
        <p:spPr>
          <a:xfrm>
            <a:off x="1005840" y="5340096"/>
            <a:ext cx="10241280" cy="310896"/>
          </a:xfrm>
          <a:prstGeom prst="rect">
            <a:avLst/>
          </a:prstGeom>
          <a:noFill/>
        </p:spPr>
        <p:txBody>
          <a:bodyPr wrap="square" anchor="t">
            <a:spAutoFit/>
          </a:bodyPr>
          <a:lstStyle/>
          <a:p>
            <a:pPr algn="l">
              <a:spcAft>
                <a:spcPts val="400"/>
              </a:spcAft>
            </a:pPr>
            <a:r>
              <a:rPr sz="1400" b="1">
                <a:solidFill>
                  <a:srgbClr val="5B6372"/>
                </a:solidFill>
                <a:latin typeface="Arial"/>
              </a:rPr>
              <a:t>Resources:  </a:t>
            </a:r>
            <a:r>
              <a:rPr sz="1400" b="0">
                <a:solidFill>
                  <a:srgbClr val="5B6372"/>
                </a:solidFill>
                <a:latin typeface="Arial"/>
              </a:rPr>
              <a:t>Use the matching lab's prerequisites and supplied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7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schema, dates, identifiers, missing values, duplicates, and organic/paid scope.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Calculate interactions, reach-based rates, CPA, and ROAS with explicit formulas.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content formats and locate the weakest customer-journey transition.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source-linked findings, hypotheses, caveats, and one bounded next action.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the Test It checks and save the verified checkpoint.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Design and Simulate the Instagram Ads, Retargeting and Optimisation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complete the connected course pack with an AI-assisted Instagram ads blueprint and a bounded continuous-improvement policy. You then run eight synthetic scenarios through the policy to prove that strong numbers cannot override tracking, customer, rights, capacity, cooldown, or human-approval guardrails.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43984"/>
            <a:ext cx="10058400" cy="841248"/>
          </a:xfrm>
          <a:prstGeom prst="rect">
            <a:avLst/>
          </a:prstGeom>
          <a:noFill/>
        </p:spPr>
        <p:txBody>
          <a:bodyPr wrap="square" anchor="t">
            <a:spAutoFit/>
          </a:bodyPr>
          <a:lstStyle/>
          <a:p>
            <a:pPr algn="l">
              <a:spcAft>
                <a:spcPts val="400"/>
              </a:spcAft>
            </a:pPr>
            <a:r>
              <a:rPr sz="1300" b="1">
                <a:solidFill>
                  <a:srgbClr val="161B26"/>
                </a:solidFill>
                <a:latin typeface="Arial"/>
              </a:rPr>
              <a:t>C695-campaign-pack/08-ads-retargeting-optimisation-runbook.md plus 08-decision-log.csv and 08-course-pack-manifest.md containing the campaign hierarchy, audience roles, budget and creative hypotheses, retargeting data map, bounded policy, scenario decisions, rollback plan, and a validated inventory of artifacts 01 to 08.</a:t>
            </a:r>
          </a:p>
        </p:txBody>
      </p:sp>
      <p:sp>
        <p:nvSpPr>
          <p:cNvPr id="13" name="TextBox 12"/>
          <p:cNvSpPr txBox="1"/>
          <p:nvPr/>
        </p:nvSpPr>
        <p:spPr>
          <a:xfrm>
            <a:off x="1005840" y="5340096"/>
            <a:ext cx="10241280" cy="310896"/>
          </a:xfrm>
          <a:prstGeom prst="rect">
            <a:avLst/>
          </a:prstGeom>
          <a:noFill/>
        </p:spPr>
        <p:txBody>
          <a:bodyPr wrap="square" anchor="t">
            <a:spAutoFit/>
          </a:bodyPr>
          <a:lstStyle/>
          <a:p>
            <a:pPr algn="l">
              <a:spcAft>
                <a:spcPts val="400"/>
              </a:spcAft>
            </a:pPr>
            <a:r>
              <a:rPr sz="1400" b="1">
                <a:solidFill>
                  <a:srgbClr val="5B6372"/>
                </a:solidFill>
                <a:latin typeface="Arial"/>
              </a:rPr>
              <a:t>Resources:  </a:t>
            </a:r>
            <a:r>
              <a:rPr sz="1400" b="0">
                <a:solidFill>
                  <a:srgbClr val="5B6372"/>
                </a:solidFill>
                <a:latin typeface="Arial"/>
              </a:rPr>
              <a:t>Use the matching lab's prerequisites and supplied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8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Align business goal, objective, event, audience role, budget, creative, destination, and metric.</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Map prospecting and retargeting signals with rights, retention, exclusions, and suppression.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minimum evidence, allowed action, magnitude, cooldown, approval, and rollback.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Simulate eight scenarios and prove guardrails can force HOLD or STOP.</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the Test It checks and save the verified checkpoint.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Analytics, Ads and Optimisation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LO5: Calculate and interpret Instagram organic and paid metrics, then produce a source-linked dashboard, diagnosis, and bounded next action</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LO6: Design a human-governed Instagram ads and retargeting loop for audience, budget, and creative decisions using evidence, limits, approval, cooldown, and rollback</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Foundations</a:t>
            </a:r>
          </a:p>
          <a:p>
            <a:pPr algn="l">
              <a:spcAft>
                <a:spcPts val="300"/>
              </a:spcAft>
            </a:pPr>
            <a:r>
              <a:rPr sz="1300" b="0">
                <a:solidFill>
                  <a:srgbClr val="5B6372"/>
                </a:solidFill>
                <a:latin typeface="Arial"/>
              </a:rPr>
              <a:t>Explain AI agents and map an Instagram customer journey, account readiness, tools, prompts, evidence, and human approval gates.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Content System</a:t>
            </a:r>
          </a:p>
          <a:p>
            <a:pPr algn="l">
              <a:spcAft>
                <a:spcPts val="300"/>
              </a:spcAft>
            </a:pPr>
            <a:r>
              <a:rPr sz="1300" b="0">
                <a:solidFill>
                  <a:srgbClr val="5B6372"/>
                </a:solidFill>
                <a:latin typeface="Arial"/>
              </a:rPr>
              <a:t>Generate an on-brand Instagram content system with captions, hashtags, image and Reels briefs, a calendar, and a controlled publishing workflow.</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Community Workflow</a:t>
            </a:r>
          </a:p>
          <a:p>
            <a:pPr algn="l">
              <a:spcAft>
                <a:spcPts val="300"/>
              </a:spcAft>
            </a:pPr>
            <a:r>
              <a:rPr sz="1300" b="0">
                <a:solidFill>
                  <a:srgbClr val="5B6372"/>
                </a:solidFill>
                <a:latin typeface="Arial"/>
              </a:rPr>
              <a:t>Design a governed engagement workflow for comments, direct messages, lead capture, follow-up, reviews, and user-generated content.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Responsible Practice</a:t>
            </a:r>
          </a:p>
          <a:p>
            <a:pPr algn="l">
              <a:spcAft>
                <a:spcPts val="300"/>
              </a:spcAft>
            </a:pPr>
            <a:r>
              <a:rPr sz="1300" b="0">
                <a:solidFill>
                  <a:srgbClr val="5B6372"/>
                </a:solidFill>
                <a:latin typeface="Arial"/>
              </a:rPr>
              <a:t>Apply privacy, copyright, platform, brand, and escalation rules to Instagram content and community-management decisions.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Analytics</a:t>
            </a:r>
          </a:p>
          <a:p>
            <a:pPr algn="l">
              <a:spcAft>
                <a:spcPts val="300"/>
              </a:spcAft>
            </a:pPr>
            <a:r>
              <a:rPr sz="1300" b="0">
                <a:solidFill>
                  <a:srgbClr val="5B6372"/>
                </a:solidFill>
                <a:latin typeface="Arial"/>
              </a:rPr>
              <a:t>Calculate and interpret Instagram organic and paid metrics, then produce an evidence-linked performance report and dashboard.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Ads Optimisation</a:t>
            </a:r>
          </a:p>
          <a:p>
            <a:pPr algn="l">
              <a:spcAft>
                <a:spcPts val="300"/>
              </a:spcAft>
            </a:pPr>
            <a:r>
              <a:rPr sz="1300" b="0">
                <a:solidFill>
                  <a:srgbClr val="5B6372"/>
                </a:solidFill>
                <a:latin typeface="Arial"/>
              </a:rPr>
              <a:t>Design an AI-assisted Instagram ads and retargeting optimisation loop for audience, budget, and creative decisions with human authority.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Put the Workflow into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Choose one authorised Instagram offer and rebuild the campaign pack in draft mode.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Measure reviewer corrections and turn repeated failures into clearer rules or examples.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Pilot one low-risk automation with an owner, stop rule, log, and rollback path.</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Review performance and customer-impact guardrails before increasing autonomy or spend.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C695 · KEEP BUILDING, CHECKING, AND LEARNING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coordinate Instagram strategy, content, scheduling, community care, analytics, ads, and optimisation as one evidence-led, human-governed system.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Instagram Marketing (C695)  ·  C695</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