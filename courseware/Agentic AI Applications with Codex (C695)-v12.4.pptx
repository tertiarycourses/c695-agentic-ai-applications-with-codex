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327" r:id="rId60"/>
    <p:sldId id="328" r:id="rId59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6" r:id="rId23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59" Type="http://schemas.openxmlformats.org/officeDocument/2006/relationships/slide" Target="slides/slide7.xml"/><Relationship Id="rId60" Type="http://schemas.openxmlformats.org/officeDocument/2006/relationships/slide" Target="slides/slide6.xml"/><Relationship Id="rId65" Type="http://schemas.openxmlformats.org/officeDocument/2006/relationships/slide" Target="slides/slide165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Relationship Id="rId81" Type="http://schemas.openxmlformats.org/officeDocument/2006/relationships/slide" Target="slides/slide12.xml"/><Relationship Id="rId82" Type="http://schemas.openxmlformats.org/officeDocument/2006/relationships/slide" Target="slides/slide13.xml"/><Relationship Id="rId83" Type="http://schemas.openxmlformats.org/officeDocument/2006/relationships/slide" Target="slides/slide14.xml"/><Relationship Id="rId84" Type="http://schemas.openxmlformats.org/officeDocument/2006/relationships/slide" Target="slides/slide15.xml"/><Relationship Id="rId85" Type="http://schemas.openxmlformats.org/officeDocument/2006/relationships/slide" Target="slides/slide16.xml"/><Relationship Id="rId86" Type="http://schemas.openxmlformats.org/officeDocument/2006/relationships/slide" Target="slides/slide17.xml"/><Relationship Id="rId87" Type="http://schemas.openxmlformats.org/officeDocument/2006/relationships/slide" Target="slides/slide18.xml"/><Relationship Id="rId88" Type="http://schemas.openxmlformats.org/officeDocument/2006/relationships/slide" Target="slides/slide19.xml"/><Relationship Id="rId89" Type="http://schemas.openxmlformats.org/officeDocument/2006/relationships/slide" Target="slides/slide20.xml"/><Relationship Id="rId90" Type="http://schemas.openxmlformats.org/officeDocument/2006/relationships/slide" Target="slides/slide21.xml"/><Relationship Id="rId91" Type="http://schemas.openxmlformats.org/officeDocument/2006/relationships/slide" Target="slides/slide22.xml"/><Relationship Id="rId92" Type="http://schemas.openxmlformats.org/officeDocument/2006/relationships/slide" Target="slides/slide23.xml"/><Relationship Id="rId93" Type="http://schemas.openxmlformats.org/officeDocument/2006/relationships/slide" Target="slides/slide24.xml"/><Relationship Id="rId94" Type="http://schemas.openxmlformats.org/officeDocument/2006/relationships/slide" Target="slides/slide25.xml"/><Relationship Id="rId95" Type="http://schemas.openxmlformats.org/officeDocument/2006/relationships/slide" Target="slides/slide26.xml"/><Relationship Id="rId96" Type="http://schemas.openxmlformats.org/officeDocument/2006/relationships/slide" Target="slides/slide27.xml"/><Relationship Id="rId97" Type="http://schemas.openxmlformats.org/officeDocument/2006/relationships/slide" Target="slides/slide28.xml"/><Relationship Id="rId98" Type="http://schemas.openxmlformats.org/officeDocument/2006/relationships/slide" Target="slides/slide29.xml"/><Relationship Id="rId99" Type="http://schemas.openxmlformats.org/officeDocument/2006/relationships/slide" Target="slides/slide30.xml"/><Relationship Id="rId100" Type="http://schemas.openxmlformats.org/officeDocument/2006/relationships/slide" Target="slides/slide31.xml"/><Relationship Id="rId101" Type="http://schemas.openxmlformats.org/officeDocument/2006/relationships/slide" Target="slides/slide32.xml"/><Relationship Id="rId102" Type="http://schemas.openxmlformats.org/officeDocument/2006/relationships/slide" Target="slides/slide33.xml"/><Relationship Id="rId103" Type="http://schemas.openxmlformats.org/officeDocument/2006/relationships/slide" Target="slides/slide34.xml"/><Relationship Id="rId104" Type="http://schemas.openxmlformats.org/officeDocument/2006/relationships/slide" Target="slides/slide35.xml"/><Relationship Id="rId105" Type="http://schemas.openxmlformats.org/officeDocument/2006/relationships/slide" Target="slides/slide36.xml"/><Relationship Id="rId106" Type="http://schemas.openxmlformats.org/officeDocument/2006/relationships/slide" Target="slides/slide37.xml"/><Relationship Id="rId107" Type="http://schemas.openxmlformats.org/officeDocument/2006/relationships/slide" Target="slides/slide38.xml"/><Relationship Id="rId108" Type="http://schemas.openxmlformats.org/officeDocument/2006/relationships/slide" Target="slides/slide39.xml"/><Relationship Id="rId109" Type="http://schemas.openxmlformats.org/officeDocument/2006/relationships/slide" Target="slides/slide40.xml"/><Relationship Id="rId110" Type="http://schemas.openxmlformats.org/officeDocument/2006/relationships/slide" Target="slides/slide41.xml"/><Relationship Id="rId111" Type="http://schemas.openxmlformats.org/officeDocument/2006/relationships/slide" Target="slides/slide42.xml"/><Relationship Id="rId112" Type="http://schemas.openxmlformats.org/officeDocument/2006/relationships/slide" Target="slides/slide43.xml"/><Relationship Id="rId113" Type="http://schemas.openxmlformats.org/officeDocument/2006/relationships/slide" Target="slides/slide44.xml"/><Relationship Id="rId114" Type="http://schemas.openxmlformats.org/officeDocument/2006/relationships/slide" Target="slides/slide45.xml"/><Relationship Id="rId115" Type="http://schemas.openxmlformats.org/officeDocument/2006/relationships/slide" Target="slides/slide46.xml"/><Relationship Id="rId116" Type="http://schemas.openxmlformats.org/officeDocument/2006/relationships/slide" Target="slides/slide47.xml"/><Relationship Id="rId117" Type="http://schemas.openxmlformats.org/officeDocument/2006/relationships/slide" Target="slides/slide48.xml"/><Relationship Id="rId118" Type="http://schemas.openxmlformats.org/officeDocument/2006/relationships/slide" Target="slides/slide49.xml"/><Relationship Id="rId119" Type="http://schemas.openxmlformats.org/officeDocument/2006/relationships/slide" Target="slides/slide50.xml"/><Relationship Id="rId120" Type="http://schemas.openxmlformats.org/officeDocument/2006/relationships/slide" Target="slides/slide51.xml"/><Relationship Id="rId121" Type="http://schemas.openxmlformats.org/officeDocument/2006/relationships/slide" Target="slides/slide52.xml"/><Relationship Id="rId122" Type="http://schemas.openxmlformats.org/officeDocument/2006/relationships/slide" Target="slides/slide53.xml"/><Relationship Id="rId123" Type="http://schemas.openxmlformats.org/officeDocument/2006/relationships/slide" Target="slides/slide54.xml"/><Relationship Id="rId124" Type="http://schemas.openxmlformats.org/officeDocument/2006/relationships/slide" Target="slides/slide55.xml"/><Relationship Id="rId125" Type="http://schemas.openxmlformats.org/officeDocument/2006/relationships/slide" Target="slides/slide56.xml"/><Relationship Id="rId126" Type="http://schemas.openxmlformats.org/officeDocument/2006/relationships/slide" Target="slides/slide57.xml"/><Relationship Id="rId127" Type="http://schemas.openxmlformats.org/officeDocument/2006/relationships/slide" Target="slides/slide58.xml"/><Relationship Id="rId128" Type="http://schemas.openxmlformats.org/officeDocument/2006/relationships/slide" Target="slides/slide59.xml"/><Relationship Id="rId129" Type="http://schemas.openxmlformats.org/officeDocument/2006/relationships/slide" Target="slides/slide60.xml"/><Relationship Id="rId130" Type="http://schemas.openxmlformats.org/officeDocument/2006/relationships/slide" Target="slides/slide61.xml"/><Relationship Id="rId131" Type="http://schemas.openxmlformats.org/officeDocument/2006/relationships/slide" Target="slides/slide62.xml"/><Relationship Id="rId132" Type="http://schemas.openxmlformats.org/officeDocument/2006/relationships/slide" Target="slides/slide63.xml"/><Relationship Id="rId133" Type="http://schemas.openxmlformats.org/officeDocument/2006/relationships/slide" Target="slides/slide64.xml"/><Relationship Id="rId134" Type="http://schemas.openxmlformats.org/officeDocument/2006/relationships/slide" Target="slides/slide65.xml"/><Relationship Id="rId135" Type="http://schemas.openxmlformats.org/officeDocument/2006/relationships/slide" Target="slides/slide66.xml"/><Relationship Id="rId136" Type="http://schemas.openxmlformats.org/officeDocument/2006/relationships/slide" Target="slides/slide67.xml"/><Relationship Id="rId137" Type="http://schemas.openxmlformats.org/officeDocument/2006/relationships/slide" Target="slides/slide68.xml"/><Relationship Id="rId138" Type="http://schemas.openxmlformats.org/officeDocument/2006/relationships/slide" Target="slides/slide69.xml"/><Relationship Id="rId139" Type="http://schemas.openxmlformats.org/officeDocument/2006/relationships/slide" Target="slides/slide70.xml"/><Relationship Id="rId140" Type="http://schemas.openxmlformats.org/officeDocument/2006/relationships/slide" Target="slides/slide71.xml"/><Relationship Id="rId141" Type="http://schemas.openxmlformats.org/officeDocument/2006/relationships/slide" Target="slides/slide72.xml"/><Relationship Id="rId142" Type="http://schemas.openxmlformats.org/officeDocument/2006/relationships/slide" Target="slides/slide73.xml"/><Relationship Id="rId143" Type="http://schemas.openxmlformats.org/officeDocument/2006/relationships/slide" Target="slides/slide74.xml"/><Relationship Id="rId144" Type="http://schemas.openxmlformats.org/officeDocument/2006/relationships/slide" Target="slides/slide75.xml"/><Relationship Id="rId145" Type="http://schemas.openxmlformats.org/officeDocument/2006/relationships/slide" Target="slides/slide76.xml"/><Relationship Id="rId146" Type="http://schemas.openxmlformats.org/officeDocument/2006/relationships/slide" Target="slides/slide77.xml"/><Relationship Id="rId147" Type="http://schemas.openxmlformats.org/officeDocument/2006/relationships/slide" Target="slides/slide78.xml"/><Relationship Id="rId148" Type="http://schemas.openxmlformats.org/officeDocument/2006/relationships/slide" Target="slides/slide79.xml"/><Relationship Id="rId149" Type="http://schemas.openxmlformats.org/officeDocument/2006/relationships/slide" Target="slides/slide80.xml"/><Relationship Id="rId150" Type="http://schemas.openxmlformats.org/officeDocument/2006/relationships/slide" Target="slides/slide81.xml"/><Relationship Id="rId151" Type="http://schemas.openxmlformats.org/officeDocument/2006/relationships/slide" Target="slides/slide82.xml"/><Relationship Id="rId152" Type="http://schemas.openxmlformats.org/officeDocument/2006/relationships/slide" Target="slides/slide83.xml"/><Relationship Id="rId153" Type="http://schemas.openxmlformats.org/officeDocument/2006/relationships/slide" Target="slides/slide84.xml"/><Relationship Id="rId154" Type="http://schemas.openxmlformats.org/officeDocument/2006/relationships/slide" Target="slides/slide85.xml"/><Relationship Id="rId155" Type="http://schemas.openxmlformats.org/officeDocument/2006/relationships/slide" Target="slides/slide86.xml"/><Relationship Id="rId156" Type="http://schemas.openxmlformats.org/officeDocument/2006/relationships/slide" Target="slides/slide87.xml"/><Relationship Id="rId157" Type="http://schemas.openxmlformats.org/officeDocument/2006/relationships/slide" Target="slides/slide88.xml"/><Relationship Id="rId158" Type="http://schemas.openxmlformats.org/officeDocument/2006/relationships/slide" Target="slides/slide89.xml"/><Relationship Id="rId159" Type="http://schemas.openxmlformats.org/officeDocument/2006/relationships/slide" Target="slides/slide90.xml"/><Relationship Id="rId160" Type="http://schemas.openxmlformats.org/officeDocument/2006/relationships/slide" Target="slides/slide91.xml"/><Relationship Id="rId161" Type="http://schemas.openxmlformats.org/officeDocument/2006/relationships/slide" Target="slides/slide92.xml"/><Relationship Id="rId162" Type="http://schemas.openxmlformats.org/officeDocument/2006/relationships/slide" Target="slides/slide93.xml"/><Relationship Id="rId163" Type="http://schemas.openxmlformats.org/officeDocument/2006/relationships/slide" Target="slides/slide94.xml"/><Relationship Id="rId164" Type="http://schemas.openxmlformats.org/officeDocument/2006/relationships/slide" Target="slides/slide95.xml"/><Relationship Id="rId165" Type="http://schemas.openxmlformats.org/officeDocument/2006/relationships/slide" Target="slides/slide96.xml"/><Relationship Id="rId166" Type="http://schemas.openxmlformats.org/officeDocument/2006/relationships/slide" Target="slides/slide97.xml"/><Relationship Id="rId167" Type="http://schemas.openxmlformats.org/officeDocument/2006/relationships/slide" Target="slides/slide98.xml"/><Relationship Id="rId168" Type="http://schemas.openxmlformats.org/officeDocument/2006/relationships/slide" Target="slides/slide99.xml"/><Relationship Id="rId169" Type="http://schemas.openxmlformats.org/officeDocument/2006/relationships/slide" Target="slides/slide100.xml"/><Relationship Id="rId170" Type="http://schemas.openxmlformats.org/officeDocument/2006/relationships/slide" Target="slides/slide101.xml"/><Relationship Id="rId171" Type="http://schemas.openxmlformats.org/officeDocument/2006/relationships/slide" Target="slides/slide102.xml"/><Relationship Id="rId172" Type="http://schemas.openxmlformats.org/officeDocument/2006/relationships/slide" Target="slides/slide103.xml"/><Relationship Id="rId173" Type="http://schemas.openxmlformats.org/officeDocument/2006/relationships/slide" Target="slides/slide104.xml"/><Relationship Id="rId174" Type="http://schemas.openxmlformats.org/officeDocument/2006/relationships/slide" Target="slides/slide105.xml"/><Relationship Id="rId175" Type="http://schemas.openxmlformats.org/officeDocument/2006/relationships/slide" Target="slides/slide106.xml"/><Relationship Id="rId176" Type="http://schemas.openxmlformats.org/officeDocument/2006/relationships/slide" Target="slides/slide107.xml"/><Relationship Id="rId177" Type="http://schemas.openxmlformats.org/officeDocument/2006/relationships/slide" Target="slides/slide108.xml"/><Relationship Id="rId178" Type="http://schemas.openxmlformats.org/officeDocument/2006/relationships/slide" Target="slides/slide109.xml"/><Relationship Id="rId179" Type="http://schemas.openxmlformats.org/officeDocument/2006/relationships/slide" Target="slides/slide110.xml"/><Relationship Id="rId180" Type="http://schemas.openxmlformats.org/officeDocument/2006/relationships/slide" Target="slides/slide111.xml"/><Relationship Id="rId181" Type="http://schemas.openxmlformats.org/officeDocument/2006/relationships/slide" Target="slides/slide112.xml"/><Relationship Id="rId182" Type="http://schemas.openxmlformats.org/officeDocument/2006/relationships/slide" Target="slides/slide113.xml"/><Relationship Id="rId183" Type="http://schemas.openxmlformats.org/officeDocument/2006/relationships/slide" Target="slides/slide114.xml"/><Relationship Id="rId184" Type="http://schemas.openxmlformats.org/officeDocument/2006/relationships/slide" Target="slides/slide115.xml"/><Relationship Id="rId185" Type="http://schemas.openxmlformats.org/officeDocument/2006/relationships/slide" Target="slides/slide116.xml"/><Relationship Id="rId186" Type="http://schemas.openxmlformats.org/officeDocument/2006/relationships/slide" Target="slides/slide117.xml"/><Relationship Id="rId187" Type="http://schemas.openxmlformats.org/officeDocument/2006/relationships/slide" Target="slides/slide118.xml"/><Relationship Id="rId188" Type="http://schemas.openxmlformats.org/officeDocument/2006/relationships/slide" Target="slides/slide119.xml"/><Relationship Id="rId189" Type="http://schemas.openxmlformats.org/officeDocument/2006/relationships/slide" Target="slides/slide120.xml"/><Relationship Id="rId190" Type="http://schemas.openxmlformats.org/officeDocument/2006/relationships/slide" Target="slides/slide121.xml"/><Relationship Id="rId191" Type="http://schemas.openxmlformats.org/officeDocument/2006/relationships/slide" Target="slides/slide122.xml"/><Relationship Id="rId192" Type="http://schemas.openxmlformats.org/officeDocument/2006/relationships/slide" Target="slides/slide123.xml"/><Relationship Id="rId193" Type="http://schemas.openxmlformats.org/officeDocument/2006/relationships/slide" Target="slides/slide124.xml"/><Relationship Id="rId194" Type="http://schemas.openxmlformats.org/officeDocument/2006/relationships/slide" Target="slides/slide125.xml"/><Relationship Id="rId195" Type="http://schemas.openxmlformats.org/officeDocument/2006/relationships/slide" Target="slides/slide126.xml"/><Relationship Id="rId196" Type="http://schemas.openxmlformats.org/officeDocument/2006/relationships/slide" Target="slides/slide127.xml"/><Relationship Id="rId197" Type="http://schemas.openxmlformats.org/officeDocument/2006/relationships/slide" Target="slides/slide128.xml"/><Relationship Id="rId198" Type="http://schemas.openxmlformats.org/officeDocument/2006/relationships/slide" Target="slides/slide129.xml"/><Relationship Id="rId199" Type="http://schemas.openxmlformats.org/officeDocument/2006/relationships/slide" Target="slides/slide130.xml"/><Relationship Id="rId200" Type="http://schemas.openxmlformats.org/officeDocument/2006/relationships/slide" Target="slides/slide131.xml"/><Relationship Id="rId201" Type="http://schemas.openxmlformats.org/officeDocument/2006/relationships/slide" Target="slides/slide132.xml"/><Relationship Id="rId202" Type="http://schemas.openxmlformats.org/officeDocument/2006/relationships/slide" Target="slides/slide133.xml"/><Relationship Id="rId203" Type="http://schemas.openxmlformats.org/officeDocument/2006/relationships/slide" Target="slides/slide134.xml"/><Relationship Id="rId204" Type="http://schemas.openxmlformats.org/officeDocument/2006/relationships/slide" Target="slides/slide135.xml"/><Relationship Id="rId205" Type="http://schemas.openxmlformats.org/officeDocument/2006/relationships/slide" Target="slides/slide136.xml"/><Relationship Id="rId206" Type="http://schemas.openxmlformats.org/officeDocument/2006/relationships/slide" Target="slides/slide137.xml"/><Relationship Id="rId207" Type="http://schemas.openxmlformats.org/officeDocument/2006/relationships/slide" Target="slides/slide138.xml"/><Relationship Id="rId208" Type="http://schemas.openxmlformats.org/officeDocument/2006/relationships/slide" Target="slides/slide139.xml"/><Relationship Id="rId209" Type="http://schemas.openxmlformats.org/officeDocument/2006/relationships/slide" Target="slides/slide140.xml"/><Relationship Id="rId210" Type="http://schemas.openxmlformats.org/officeDocument/2006/relationships/slide" Target="slides/slide141.xml"/><Relationship Id="rId211" Type="http://schemas.openxmlformats.org/officeDocument/2006/relationships/slide" Target="slides/slide142.xml"/><Relationship Id="rId212" Type="http://schemas.openxmlformats.org/officeDocument/2006/relationships/slide" Target="slides/slide143.xml"/><Relationship Id="rId213" Type="http://schemas.openxmlformats.org/officeDocument/2006/relationships/slide" Target="slides/slide144.xml"/><Relationship Id="rId214" Type="http://schemas.openxmlformats.org/officeDocument/2006/relationships/slide" Target="slides/slide145.xml"/><Relationship Id="rId215" Type="http://schemas.openxmlformats.org/officeDocument/2006/relationships/slide" Target="slides/slide146.xml"/><Relationship Id="rId216" Type="http://schemas.openxmlformats.org/officeDocument/2006/relationships/slide" Target="slides/slide147.xml"/><Relationship Id="rId217" Type="http://schemas.openxmlformats.org/officeDocument/2006/relationships/slide" Target="slides/slide148.xml"/><Relationship Id="rId218" Type="http://schemas.openxmlformats.org/officeDocument/2006/relationships/slide" Target="slides/slide149.xml"/><Relationship Id="rId219" Type="http://schemas.openxmlformats.org/officeDocument/2006/relationships/slide" Target="slides/slide150.xml"/><Relationship Id="rId220" Type="http://schemas.openxmlformats.org/officeDocument/2006/relationships/slide" Target="slides/slide151.xml"/><Relationship Id="rId221" Type="http://schemas.openxmlformats.org/officeDocument/2006/relationships/slide" Target="slides/slide152.xml"/><Relationship Id="rId222" Type="http://schemas.openxmlformats.org/officeDocument/2006/relationships/slide" Target="slides/slide153.xml"/><Relationship Id="rId223" Type="http://schemas.openxmlformats.org/officeDocument/2006/relationships/slide" Target="slides/slide154.xml"/><Relationship Id="rId224" Type="http://schemas.openxmlformats.org/officeDocument/2006/relationships/slide" Target="slides/slide155.xml"/><Relationship Id="rId225" Type="http://schemas.openxmlformats.org/officeDocument/2006/relationships/slide" Target="slides/slide156.xml"/><Relationship Id="rId226" Type="http://schemas.openxmlformats.org/officeDocument/2006/relationships/slide" Target="slides/slide157.xml"/><Relationship Id="rId227" Type="http://schemas.openxmlformats.org/officeDocument/2006/relationships/slide" Target="slides/slide158.xml"/><Relationship Id="rId228" Type="http://schemas.openxmlformats.org/officeDocument/2006/relationships/slide" Target="slides/slide159.xml"/><Relationship Id="rId229" Type="http://schemas.openxmlformats.org/officeDocument/2006/relationships/slide" Target="slides/slide160.xml"/><Relationship Id="rId230" Type="http://schemas.openxmlformats.org/officeDocument/2006/relationships/slide" Target="slides/slide161.xml"/><Relationship Id="rId231" Type="http://schemas.openxmlformats.org/officeDocument/2006/relationships/slide" Target="slides/slide162.xml"/><Relationship Id="rId232" Type="http://schemas.openxmlformats.org/officeDocument/2006/relationships/slide" Target="slides/slide163.xml"/><Relationship Id="rId234" Type="http://schemas.openxmlformats.org/officeDocument/2006/relationships/slide" Target="slides/slide1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NON-WSQ COURSE  •  C695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 with Codex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12.4  ·  25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Codex.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every session to get the most from the course.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You take it from an idea to a running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pressure-tests the idea; Work researches the market and publishes the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builds the website, a sign-up form for every course and a SQLite RAG course assistant.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prices the courses, fills the calendar, enrols learners and answers enquiries.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and a team of Codex agents run the brand, social, video and open-house campaign.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12, 15,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12–15,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2–11, 16–18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topics over two days.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Validate the idea, build the site with sign-up forms, and publish it. Labs 1–4.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a workshop popup and a hook that checks every edit. Labs 9–11.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T4 ·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Pricing, calendar, enrolment, customer service with Work. Labs 12–15.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T5 ·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 and the flyer, a multi-agent studio, the open-house campaign. Labs 16–18.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Eighteen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 Validate · 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Work,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Popup +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47641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4447641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 Pricing · 13 Calendar · 14 Enrolment · 15 Customer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060" y="4447641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Work, 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6748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76748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5076748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 Marketing skills + flyer · 17 Multi-agent studio · 18 Open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060" y="5076748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Codex,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14 enrols the people who signed up on the site you built in Lab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(9:30 AM – 5:30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Lunch 30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— VALIDATE AND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2 — OPERATE AND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9:30–10:40  Welcome · Topic 1 · Lab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9:30–11:20  Topic 4 · Labs 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10:40–12:30  Labs 2–4 · Topic 1 recap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11:20–13:05  Labs 14–15 ·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13:00–15:15  Topic 2 · Labs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13:35–16:45  Topic 5 · Labs 16–18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15:15–17:30  Topic 3 · Labs 9–11 ·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16:45–17:30  Course summary · Q&amp;A ·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Both days: 7.5 instructional hours, 9:30 AM – 5:30 PM, with a 30-minute lunch.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Validate the idea: Chat, Work research and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re-run the site check after every edit.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Specialists you describe in the prompt,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five now so every lab just works. Use your personal Google account,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 4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15, 18 — drafts only, to your own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Docs, Sheets, Slides and files. Labs 12–18 read their data from Drive.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9872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7615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5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 and read events. Lab 13 — on a calendar you create for the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1104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1104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847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847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1 report and the Lab 4 site; keep access at Only those invited.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ChatGPT Work Researches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 uses Work to test the idea before a cent is spent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plans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a plan. Work lists its steps and sources before starting — change them; it is your cheapest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figure should carry a source and a date. Demand UNKNOWN rather than a plausible guess.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ships 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output is an artifact — a document, a sheet or, with @Sites, a live HTML page you can share.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Late August 2026. Grace has signed two kitchen leases and drafted 20 courses. Before she spends S$8,000 on a website, her business partner wants proof: who will pay, how much, and which courses should launch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private HTML market report on Sites, and market-brief.md for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Chat brainstorm · Work research with plan review · @Sites HTML 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Pressure-test in Chat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Ten minutes: who pays, why now, what could sink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Research in Work  </a:t>
            </a:r>
            <a:r>
              <a:rPr sz="1550">
                <a:solidFill>
                  <a:srgbClr val="6B6862"/>
                </a:solidFill>
                <a:latin typeface="Calibri"/>
              </a:rPr>
              <a:t>Switch to Work and paste Prompt B. Read the plan and change at least one step before approving.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sources  </a:t>
            </a:r>
            <a:r>
              <a:rPr sz="1550">
                <a:solidFill>
                  <a:srgbClr val="6B6862"/>
                </a:solidFill>
                <a:latin typeface="Calibri"/>
              </a:rPr>
              <a:t>Every number needs a cited source and date. Mark anything uncited as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with @Sites  </a:t>
            </a:r>
            <a:r>
              <a:rPr sz="1550">
                <a:solidFill>
                  <a:srgbClr val="6B6862"/>
                </a:solidFill>
                <a:latin typeface="Calibri"/>
              </a:rPr>
              <a:t>Prompt C turns the research into a one-page HTML report. Set access to Only those invited.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Write the brief  </a:t>
            </a:r>
            <a:r>
              <a:rPr sz="1550">
                <a:solidFill>
                  <a:srgbClr val="6B6862"/>
                </a:solidFill>
                <a:latin typeface="Calibri"/>
              </a:rPr>
              <a:t>Prompt D produces market-brief.md — save it into your cook-and-bake folder for Lab 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I'm launching Cook &amp; Bake Academy Singapore: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20 hands-on cooking and baking courses (S$160 to S$1,580), two campuses, classes of 12.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Pressure-test the idea. In under 250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Who is most likely to pay, and why now?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three biggest risks to the business.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five questions my market research must answer before I spend money on a website.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122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Plan first, then research.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Research the market for hands-on cooking and baking classes in Singapore for Cook &amp; Bake Academy. Our proposed catalogue is attached (courses.csv).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Answer: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1. Who the customers are — 3 personas.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2. At least 5 named competitors, with course types and published price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3. Where our 20 fees sit against those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4. Demand signals and seasonality.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5. The 5 courses we should launch first, and why.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Cite every figure with its source and date. If a figure cannot be sourced, write UNKNOWN. Show me the plan before you start.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561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81157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Turn this research into a one-page HTML report titled "Cook &amp; Bake — Market Validation".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Sections: summary, personas, competitor table, our fees against the market, demand and seasonality, the 5 launch courses, risks, and sources with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Keep it private: Only those invited. Give me the Site URL when it is published.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D — the brief for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Summarise the research as market-brief.md for our website developer. Under 300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positioning line, 3 personas, the 5 launch courses, pricing notes, and 3 things the website must do to convert visitors. Facts only from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Research is only as good as its citations. A confident figure with no source is a guess.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 returned five research questions you used in Prompt B.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changed at least one step of Work's plan before approving.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competitor table names 5+ real schools, each with a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uncited number appears — gaps say UNKNOWN.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HTML report is live on Sites and set to Only those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market-brief.md is saved in your cook-and-bake folder.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data/courses.csv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 and run git init. Copy courses.csv into data/; brand.md and your Lab 1 market-brief.md (or the sample) into the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8080. The page reads courses.csv from the web server, so opening the file directly will not work.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77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Course grid read from data/courses.csv (one row per course; the learn and intakes columns list items separated by "; ").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data/courses.csv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 from a branch: push, and it is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Pages (deploy from a branch) · @Sites access control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55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550">
                <a:solidFill>
                  <a:srgbClr val="6B6862"/>
                </a:solidFill>
                <a:latin typeface="Calibri"/>
              </a:rPr>
              <a:t>Repo Settings → Pages → Source: Deploy from a branch → main, / (root) → Save. After a minute the site URL appears at the top.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55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Pages URL (https://&lt;your-user&gt;.github.io/cook-and-bake/).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Pages URL loads the site with all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idea is validated and 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Validated  ·  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cited market report on Sites and a brief for the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responsive site, AGENTS.md rules, a sign-up form on every course,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 (Lab 14).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data/courses.csv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Copy golden-questions.csv to eval/, then 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Add npm run eval: ask every question in eval/golden-questions.csv and pass it when the top 3 results include the expected source and text. Print the score, e.g. 30/30.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Your Lab 10 $gitpush skill scans for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workshop popup that turns visitors into sign-ups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hook that re-checks the site after every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the lock file skills.sh creates.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the lock file so your team installs exactly the same versions.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November issue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the skills lock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It uses brand.md, in your project since Lab 2.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skills.sh creates it automatically; it records exactly what you installed.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courses.csv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data/courses.csv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From BAK-111-mooncake.md, add a row to your project's data/courses.csv (from Lab 2), a brochure and a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data/courses.csv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data/courses.csv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e.g. run npm run check and tell Codex what failed (Lab 11).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Set up by asking Codex (Lab 11).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a Hook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You describe the event and the action in plain words. Codex writes the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Say when and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"Every time you finish editing a file, run npm run check. If it fails, tell me and fix it."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Codex sets it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writes the hook settings and a small script itself — nothing for you to write or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the hook before it runs. It runs with your permissions, so read what it does.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Timer, Event or Schedule?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different triggers — and three different features. Lab 11 uses the first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timer on the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in the visitor's browser after 10 seconds on the page. Built by Codex in JavaScript: the workshop invite.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Codex event → a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when Codex does something, e.g. finishes editing a file. Not a timer, not a schedule: re-check after every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clock → a scheduled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the clock, e.g. every Monday 07:00. Created by asking; runs appear in Scheduled (Lab 14).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Workshop Invite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After 10 seconds on the page, one friendly invite — once per visitor.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883305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810153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24553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5721" y="2130551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The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5721" y="2459735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Free 1-hour Pastries Workshop &amp; Treat, next Wednesday 1 PM, Bukit Timah campus.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4553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5721" y="3300983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Three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5721" y="3630167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Name, Singapore mobile and email — validated in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4553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5721" y="4471416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Polite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5721" y="4800600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Shown once, closes with X or Esc, never over another dialog.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is running a free Pastries Workshop &amp; Treat next Wednesday at the Bukit Timah campus to fill the first term. Visitors browse the site but leave without signing up. And her part-time administrator is about to start editing brochures — one wrong allergen line could go live. Invite the visitors who linger, and make Codex re-check every 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10-second workshop invite with a name, mobile and email form, and a trusted hook that runs npm run check after every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timed popup · 3-field form · hook on an event · trust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brief  </a:t>
            </a:r>
            <a:r>
              <a:rPr sz="1300">
                <a:solidFill>
                  <a:srgbClr val="6B6862"/>
                </a:solidFill>
                <a:latin typeface="Calibri"/>
              </a:rPr>
              <a:t>Open assets/workshop-brief.md: the event, the three form fields, and the difference between a timer, a hook and a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popup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into Codex in your cook-and-bake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it  </a:t>
            </a:r>
            <a:r>
              <a:rPr sz="1300">
                <a:solidFill>
                  <a:srgbClr val="6B6862"/>
                </a:solidFill>
                <a:latin typeface="Calibri"/>
              </a:rPr>
              <a:t>Reload the site and wait 10 seconds. Try a bad mobile number, then a good one. Reload again — the invite must not come back.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Ask for the hook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sets the hook up for you — no configuration to write.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Trust it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the new hook. Read what it runs (npm run check), then trust it.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Watch it fire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Straight after the edit the hook runs the check, a golden question fails, and Codex puts the allergen line back.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 </a:t>
            </a:r>
            <a:r>
              <a:rPr sz="1300">
                <a:solidFill>
                  <a:srgbClr val="6B6862"/>
                </a:solidFill>
                <a:latin typeface="Calibri"/>
              </a:rPr>
              <a:t>Run $gitpush (Lab 10). GitHub Pages redeploys with the invite.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the workshop popup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974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workshop invitation to the home page.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When a visitor has been on the page for 10 seconds, open a friendly popup with: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Title: Free 1-hour Pastries Workshop &amp; Treat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When: next Wednesday, 1:00-2:00 PM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Where: our Bukit Timah campus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Ask: Keen to join?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short form: name, mobile and email, and a "Count me in"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Mobile: Singapore, 8 digits starting with 8 or 9.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Save sign-ups in the browser like the course sign-ups, then say thank you.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it once per visitor. Close with X or Esc.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Accessible: labels, and focus inside the popup. No libraries. Then tell me how to test it.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B and C — the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hook to this project: every time you finish editing a file, run npm run check. If it fails, tell me which test failed and fix it before you carry on. Set it up for me — I don't need to see the configuration. Then tell me in two sentences what the hook does and how to switch it off.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timer, a hook and a schedule are three different triggers: the popup waits for the visitor, the hook waits for Codex to edit, a scheduled task waits for the clock (Lab 14).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invite opens after about 10 seconds, not before.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mobile number shows an error; a good sign-up shows the thank-you message.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a reload the invite does not appear again.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hook is trusted, and Codex explained what it does in plain words.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Prompt C the hook ran the check, G04 failed, and Codex restored the allergen line in the same 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check passes every golden question, and the live site shows the invite.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Day 1: From Idea to a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Cook &amp; Bake needs to take bookings is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Cited market report on Sites (Lab 1).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Site, sign-ups and rules, published (Labs 2–4).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RAG assistant at 30/30, two modes (5–8).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a workshop popup, a hook on every edit (9–11).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business and grow it with Work (12–18).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Running the Academy with ChatGPT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From website to operating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Plan mode and connectors: Drive, Calendar, Gmail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Scheduled and event-triggered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 in ChatGPT, and governing what you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Running the Academy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Each week the founder does the same five jobs. Work takes the tedious part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Know which courses make money (Lab 12).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Sessions, chefs and kitchens on one calendar (13).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Right email to each learner, flags to a human (14).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Enquiries answered correctly, every time (15).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turned into next term's fixes (15).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ChatGPT Work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An agent that stays with a business task and hands you a finished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Gathers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your connected Drive, Calendar and Gmail — not just the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Plans, then 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Proposes steps you approve, then works through them — for minutes 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Delivers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Spreadsheets with formulas, documents, slides, drafts and events.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Connect Your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Connect once under Settings, then name the app in your prompt. Check which account you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@Drive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Search and read documents and sheets. Labs 12–18 read their data from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@Calendar ·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Create, read, update and delete events. Lab 13, on a calendar of your 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 ·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 and 18 — drafts only, never automatic sends.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Before You Grant Write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Reading is recoverable. Sending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Own accounts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learner address in the fixtures is yours, via Gmail plus-addressing: you+amelia@gmail.com.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Drafts before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drafts and review them. Promote one to a send only when it reads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Lists before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Work to show every event or email it will create, and approve the list first.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Operations begin. Sign-ups are arriving and Grace's accountant asks the hard question: which of the 20 courses make money after ingredients, chefs and rent? The fees were set by instinct. Find out before the first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pricing workbook with live formulas and a fee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→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Plan mode in Work · spreadsheet artifact · @Drive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→ Chat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Upload to Drive  </a:t>
            </a:r>
            <a:r>
              <a:rPr sz="1550">
                <a:solidFill>
                  <a:srgbClr val="6B6862"/>
                </a:solidFill>
                <a:latin typeface="Calibri"/>
              </a:rPr>
              <a:t>Put the five files in a Drive folder: Cook &amp; Bake / Finance.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@Drive  </a:t>
            </a:r>
            <a:r>
              <a:rPr sz="1550">
                <a:solidFill>
                  <a:srgbClr val="6B6862"/>
                </a:solidFill>
                <a:latin typeface="Calibri"/>
              </a:rPr>
              <a:t>Read access is enough.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Plan first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 Change one step of the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workbook  </a:t>
            </a:r>
            <a:r>
              <a:rPr sz="1550">
                <a:solidFill>
                  <a:srgbClr val="6B6862"/>
                </a:solidFill>
                <a:latin typeface="Calibri"/>
              </a:rPr>
              <a:t>Click three cells — they must be formulas, not pasted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Sanity-check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Chat: "Is a 45% gross margin realistic for a cooking school?" Compare with pricing-rules.md.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858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Plan first, then build.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Using @Drive Cook &amp; Bake / Finance, build a pricing workbook with real formulas.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Tabs: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1. Unit cost — per course: ingredients x sessions, consumables, instructor and assistant cost per session, cost per seat at 8, 10 and 12 learners.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2. Fixed costs — monthly total.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3. Break-even — seats per month to cover fixed costs at the current fee mix.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4. Fee check — current fee vs the rule in pricing-rules.md. Flag underpriced courses.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5. Notes — every assumption.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Write UNKNOWN for anything you cannot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Chat is for the quick second opinion; Work is for the artifact you will actually use.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showed a plan and you changed one step.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Cells in Unit cost are formulas, not pasted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Break-even seats per month is stated with its formula.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Underpriced courses are flagged against pricing-rules.md.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Notes tab lists every assumption.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recomputed one course's cost per seat by hand.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Term 4 starts on 10 October: seven chefs, two campuses, 20 courses and two academy closure days, all in Grace's head. Put every session on one calendar — and catch the double-booking she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dedicated term calendar with every session, and a clash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@Calendar write access · clash detection · approve before write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@Calendar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Make a calendar  </a:t>
            </a:r>
            <a:r>
              <a:rPr sz="1550">
                <a:solidFill>
                  <a:srgbClr val="6B6862"/>
                </a:solidFill>
                <a:latin typeface="Calibri"/>
              </a:rPr>
              <a:t>In Google Calendar create "Cook &amp; Bake — Term 4", so every test event stays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@Calendar  </a:t>
            </a:r>
            <a:r>
              <a:rPr sz="1550">
                <a:solidFill>
                  <a:srgbClr val="6B6862"/>
                </a:solidFill>
                <a:latin typeface="Calibri"/>
              </a:rPr>
              <a:t>Grant write access and confirm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prompt  </a:t>
            </a:r>
            <a:r>
              <a:rPr sz="1550">
                <a:solidFill>
                  <a:srgbClr val="6B6862"/>
                </a:solidFill>
                <a:latin typeface="Calibri"/>
              </a:rPr>
              <a:t>Paste it. Read the event list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Find the clash  </a:t>
            </a:r>
            <a:r>
              <a:rPr sz="1550">
                <a:solidFill>
                  <a:srgbClr val="6B6862"/>
                </a:solidFill>
                <a:latin typeface="Calibri"/>
              </a:rPr>
              <a:t>The fixture hides one instructor double-booking. Did Work catch it?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Approve and check  </a:t>
            </a:r>
            <a:r>
              <a:rPr sz="1550">
                <a:solidFill>
                  <a:srgbClr val="6B6862"/>
                </a:solidFill>
                <a:latin typeface="Calibri"/>
              </a:rPr>
              <a:t>Open Google Calendar and look.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304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Plan first. Create nothing until I approve.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From @Drive term-schedule.csv, instructors.csv and closures.csv, create one @Calendar event per weekly session in the calendar "Cook &amp; Bake — Term 4".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Title:    &lt;code&gt; &lt;title&gt; — Session &lt;n&gt; of &lt;N&gt; Location: the campus Notes:    instructor, what to bring, sign-up link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Skip every date in closures.csv.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If an instructor or a campus kitchen is booked twice at the same time, create neither course. List the clash and ask me.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Do NOT add guests — that emails invitations.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Show me the full event list and any clashes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Deleting 60 wrong events by hand is a bad afternoon. The list before the write is your last cheap checkpoint.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listed every event and waited for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reported the BAK-101 / BAK-110 Saturday clash (Chef Daniel Koh).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event falls on 25 December or 1 January.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Titles read "Session 3 of 4", with the campus as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guests were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opened Google Calendar and saw the events.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Scheduled and Event-Triggered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There is no /schedule command: describe the work and the cadence, in a Work or Codex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Daily, weekly or a custom rule. Runs appear in Scheduled. Active tasks are capped by plan — 5 on Plus, 15 on Pro.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Event-triggered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a new Gmail message, a Slack message or GitHub PR activity. Web and mobile only — create it on chatgpt.com.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Keep a 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Automate the preparation — drafts, lists, summaries. A person still decides what goes out.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Forty people signed up on the website. Some have paid and some have not; one left out a phone number; one with a nut allergy booked the macaron class. Each needs the right email, and two need a phone call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One draft per learner, a flag list, and a weekly reminder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@Gmail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@Gmail drafts · data checks · scheduled tasks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@Gmail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Use your own address  </a:t>
            </a:r>
            <a:r>
              <a:rPr sz="1300">
                <a:solidFill>
                  <a:srgbClr val="6B6862"/>
                </a:solidFill>
                <a:latin typeface="Calibri"/>
              </a:rPr>
              <a:t>In signups.csv replace YOUR.NAME with your Gmail username. Plus-addressing delivers every email to you.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Upload  </a:t>
            </a:r>
            <a:r>
              <a:rPr sz="1300">
                <a:solidFill>
                  <a:srgbClr val="6B6862"/>
                </a:solidFill>
                <a:latin typeface="Calibri"/>
              </a:rPr>
              <a:t>Put it in Drive: Cook &amp; Bake / Enrolments.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Draft, do not send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Open three drafts.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Check the flags  </a:t>
            </a:r>
            <a:r>
              <a:rPr sz="1300">
                <a:solidFill>
                  <a:srgbClr val="6B6862"/>
                </a:solidFill>
                <a:latin typeface="Calibri"/>
              </a:rPr>
              <a:t>Two rows need a human. Did Work flag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one  </a:t>
            </a:r>
            <a:r>
              <a:rPr sz="1300">
                <a:solidFill>
                  <a:srgbClr val="6B6862"/>
                </a:solidFill>
                <a:latin typeface="Calibri"/>
              </a:rPr>
              <a:t>Send a single draft — to yourself.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Automate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to schedule the weekly reminders.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signups.csv and the Term 4 calendar, prepare @Gmail DRAFTS.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yes → joining email: first name, course, first session date/time from the calendar, campus address, what to bring.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no → a polite payment reminder.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One draft per learner. Never CC or group-send.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Flag, and draft nothing for: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rows with a missing field;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an allergy that conflicts with the course's allergens — those need a phone call.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show a table: learner, course, draft type, flag.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08:00, check the "Cook &amp; Bake — Term 4" calendar for sessions in the next 7 days. For each session, prepare a @Gmail DRAFT reminder to its enrolled learners: date, time, campus, what to bring. Do not send. Then message me: sessions this week, drafts prepared, anything odd.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Schedule the preparation, never the send. The automation does the tedious part; a person decides what goes out.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Only drafts were created — nothing was sent unprompted.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Exactly one draft per learner, with no CC.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Unpaid learners got a payment reminder, not joining details.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row with the missing mobile was flagged.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nut allergy on BAK-104 was flagged for a phone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one test email arrived; the weekly task is in Scheduled.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SKILLS IN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Skills in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idea as Codex skills, called with @ instead of 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Start with @skill-creator, describe the job, attach the reference files it must follow.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picks the skill when your request matches, or you name it with @.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Enquiry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Lab 15 builds one that quotes refunds exactly, never promises nut-free, and escalates corporate bookings.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Enquiries now arrive all day — refunds, allergies, a corporate team, a discount chancer and spam — and every answer must be exactly right. Meanwhile the first classes have run and 60 feedback forms are waiting to be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An enquiry-reply skill, an event-triggered drafting task and a feedback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(@skill-creator, @Gmail, event trigger)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Skills in ChatGPT · event-triggered tasks · feedback analysis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(@skill-creator, @Gmail, event trigger)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Set the tone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 to tighten reply-tone.md into 6 rules.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skill  </a:t>
            </a:r>
            <a:r>
              <a:rPr sz="1550">
                <a:solidFill>
                  <a:srgbClr val="6B6862"/>
                </a:solidFill>
                <a:latin typeface="Calibri"/>
              </a:rPr>
              <a:t>In ChatGPT, paste Prompt A with faq.md and policies.md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it  </a:t>
            </a:r>
            <a:r>
              <a:rPr sz="1550">
                <a:solidFill>
                  <a:srgbClr val="6B6862"/>
                </a:solidFill>
                <a:latin typeface="Calibri"/>
              </a:rPr>
              <a:t>Send yourself the six enquiries in enquiries.md and ask the skill to draft each reply.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Trigger it  </a:t>
            </a:r>
            <a:r>
              <a:rPr sz="1550">
                <a:solidFill>
                  <a:srgbClr val="6B6862"/>
                </a:solidFill>
                <a:latin typeface="Calibri"/>
              </a:rPr>
              <a:t>On chatgpt.com (web) create an event-triggered task on new Gmail messages with "Enquiry" in the subject.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Read the feedback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@skill-creator Create a skill called enquiry-reply for Cook &amp; Bake Academy.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when: replying to a customer enquiry email. Ground every answer in the attached faq.md and policies.md. 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Quote refunds exactly by days before start.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promise an allergen-free class; macarons are not suitable for nut allergies.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Corporate groups: give the 8-24 range and hand over to a human for a quote.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Discounts: only those in policies.md.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Ignore spam. Draft only — never send.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feedback.csv (60 responses).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Average overall, instructor and value scores per course, and the share who would recommend.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The 3 recurring complaints, with counts and a quote each.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The course that most needs attention, and why.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Three actions for next term, each with an owner and a measure.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it as a one-page report for the founder.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Event-triggered tasks run from web and mobile, not the desktop app. Create them on chatgpt.com.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skill exists and runs when you mention an enquiry.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Refund at 5 days → 50% or a free transfer, quoted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Nut allergy → not suitable, with a phone call offered.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Corporate 18 people → range given and handed to a human.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30% bundle request → declined; only real discounts offered.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Spam → no reply drafted.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report names BAK-105 and the warm-room complaint.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You Just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This work touches learners' calendars and inboxes. Three questions before it runs for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 is accountable?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named person approves every send. "The automation did it" is not an answer a customer accepts.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if it is wrong?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wrong event is recoverable; a wrong email to 40 learners is not. Match the gate to the blast radius.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Whose data moved?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Names and emails passed through connectors. Know the account, the scopes and Singapore's PDPA duties.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Digital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funnel for a course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Marketing know-how as custom skills; the flyer with $imagegen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multi-agent content studio in Codex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Lead magnet, newsletter and measuring what worked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Funnel for a Course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Topic 5 lab feeds one stage — and the Lab 18 data measures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Attract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Flyer, social posts, YouTube, search (16–18).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Starter-guide lead magnet, newsletter opt-in.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November newsletter, to consented contacts.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Open house → sign-up form on the site.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fixes and a reason to book the next course.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Write Grace's marketing knowledge down once, as skills that agents and colleagues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brand-voice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Voice rules, banned words, colours and photo style — used by every other marketing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flyer-design · social-post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must-carry list, print specs and post formats: hook, caption, hashtags, alt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youtube-package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Script, storyboard, shot list, title, chapters, tags and thumbnail — the same shape every time.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CREATIVE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Image Generation with $imagegen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built-in Codex skill: it creates and edits images as files in your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it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Photos, illustrations, mockups and marketing visuals — saved as image files you can review and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Steer it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$flyer-design passes brand-voice and the must-carry list, so every image starts on-brand.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Proofread every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Image models can misspell. Every fee, date and name is checked against the source before it goes out.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With operations running, Grace turns to growth. Everything she knows about her brand and her customers lives in her head, and every flyer so far was made in a hurry. Capture the know-how as skills, then make the Term 4 flyer properly.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Four marketing skills (brand-voice, flyer-design, social-post, youtube-package) and an A5 flyer, 1:1 post and 9:16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Codex ($skill-creator, $imagegen)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custom marketing skills · $imagegen · proofreading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Codex ($skill-creator, $imagegen)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Pick a tagline in Chat  </a:t>
            </a:r>
            <a:r>
              <a:rPr sz="1300">
                <a:solidFill>
                  <a:srgbClr val="6B6862"/>
                </a:solidFill>
                <a:latin typeface="Calibri"/>
              </a:rPr>
              <a:t>Ask for 10 taglines from brand-brief.md; choose 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 cookbake-marketing, add its folder, and copy in the assets.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voice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the brand-voice skill.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know-how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— flyer-design, social-post and youtube-package.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flyer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$flyer-design drives $imagegen.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Proofread every word  </a:t>
            </a:r>
            <a:r>
              <a:rPr sz="1300">
                <a:solidFill>
                  <a:srgbClr val="6B6862"/>
                </a:solidFill>
                <a:latin typeface="Calibri"/>
              </a:rPr>
              <a:t>Check each fee, date and name against term-highlights.md. Regenerate with a named fix.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brand-voice from brand-brief.md and our chosen tagline: voice rules, banned words, colours with hex codes, photo style. Use when writing or designing anything for Cook &amp; Bake.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three project skills from marketing-skills-spec.md: flyer-design, social-post and youtube-package. Each follows brand-voice, takes facts only from courses.csv or term-highlights.md, and says exactly what it hands back.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$flyer-design Make Term 4 creative from flyer-brief.md with $imagegen: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An A5 portrait print flyer.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A 1:1 Instagram 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A 9:16 story.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Must carry: academy name, our tagline, three featured courses with fee and weeks, both campuses and "Sign up at" our site. Use only facts from term-highlights.md. Save to creative/term4/ with the prompt used next to each image, then list every word of text on each image for me to proofread.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Image models can misspell. A flyer is not done until a person has proofread every word and number against the source.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Four skills exist in .agents/skills/, each with a "Use when" description.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flyer, post and story images are in creative/term4/.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fee, date and course name matches term-highlights.md.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regenerated at least once with a specific, named fix.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Text is legible at arm's length and at thumbnail size.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new chat, "write an Instagram post about macarons" triggers social-post on its own.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Agents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No files to set up: describe the team in words, then ask Codex to use subagents.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Describe each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plain words: its job, the skill it uses, and its rules. "Brand reviewer: checks every fee against courses.csv."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Ask for 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"Run the copywriter, visual director and video producer in parallel, as subagents." Codex delegates when you ask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Watch and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Subagents panel shows Active and Done. Click one to see its work. A reviewer checks everything before it is staged.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17: five agents, one week of content, nothing published without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what performed; plans 7 posts and a video.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Captions, hooks, hashtags, alt text.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Visual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image per post with $imagegen.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Video 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YouTube script, storyboard, metadata, Short.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Brand 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Checks every fact; sends fixes back.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Making the YouTube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Agents write and plan the video; a person films or edits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Sora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Sora app closed on 26 April 2026 and its API on 24 September 2026. Do not build a workflow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the agents give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90-second script, storyboard, shot list, title, description with chapters, tags and a thumbnail.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How you finish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Film the shot list on a phone in the kitchen, or cut the $imagegen storyboard frames with a voice-over in any editor.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to post every day and start a YouTube channel, with no marketing staff. Set up a studio of five specialist agents that use her new marketing skills to plan, write, design and script a week of content — with a reviewer that catches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content/week-01/: 7 posts, images, a YouTube video package and a review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(subagents + the Lab 16 skills)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agents described in the prompt · subagents in parallel · the Lab 16 skills · a reviewer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(subagents + the Lab 16 skills)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Use the cookbake-marketing project from Lab 16, with its four marketing skills installed. Copy the assets into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Meet the team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It describes the five agents in plain words (longer notes: studio-roles.md). Codex confirms each role in one line.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Run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starts the agents as subagents — watch them move from Active to Done in the Subagents panel.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inside  </a:t>
            </a:r>
            <a:r>
              <a:rPr sz="1300">
                <a:solidFill>
                  <a:srgbClr val="6B6862"/>
                </a:solidFill>
                <a:latin typeface="Calibri"/>
              </a:rPr>
              <a:t>Click two finished agents to see what each one did and the summary it sent back.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review  </a:t>
            </a:r>
            <a:r>
              <a:rPr sz="1300">
                <a:solidFill>
                  <a:srgbClr val="6B6862"/>
                </a:solidFill>
                <a:latin typeface="Calibri"/>
              </a:rPr>
              <a:t>The brand reviewer must flag at least one problem. Confirm it was fixed.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video  </a:t>
            </a:r>
            <a:r>
              <a:rPr sz="1300">
                <a:solidFill>
                  <a:srgbClr val="6B6862"/>
                </a:solidFill>
                <a:latin typeface="Calibri"/>
              </a:rPr>
              <a:t>Film the shot list on a phone in the kitchen, or cut the $imagegen storyboard frames with a voice-over in any video editor.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Stage, do not publish  </a:t>
            </a:r>
            <a:r>
              <a:rPr sz="1300">
                <a:solidFill>
                  <a:srgbClr val="6B6862"/>
                </a:solidFill>
                <a:latin typeface="Calibri"/>
              </a:rPr>
              <a:t>Posts stay as files for a person to schedule.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meet 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We are running a content studio with five agents. Here is the team — do not start yet.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Strategist: reads post-performance.csv and content-pillars.md, then plans 7 posts and one YouTube video for next week.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Copywriter: writes the 7 posts with $social-post, in our $brand-voice.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Visual director: makes one image per post with $imagegen, on brand.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Video producer: writes the YouTube package with $youtube-package and youtube-brief.md, plus a 30-second Short.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5. Brand reviewer: checks everything against courses.csv. It reports problems; it does not edit.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 for everyone: every fee and date comes from courses.csv. Publish nothing. Reply with one line per agent to confirm.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run the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Now run the studio, using subagents.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First, the strategist makes the plan.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Then the copywriter, visual director and video producer work in parallel, each as its own subagent.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Last, the brand reviewer checks it all. Send each problem back to fix. Save to content/week-01/ with a review log, then give me a short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Sora is discontinued. Film the shot list, or cut $imagegen frames with a voice-over.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confirmed all five roles before starting.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Five subagents ran; you opened at least two in the Subagents panel.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strategist's plan cites what performed best.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content/week-01/ holds 7 posts, 7 images and the video package.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reviewer logged at least one issue, and it was fixed.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 and date matches courses.csv, and nothing was published.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Leads, Newsletters and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18 turns attention into sign-ups — lawfully.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Lead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useful free guide exchanged for an email. $lead-magnets builds it from our own sourdough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Newsletter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$newsletter-generation writes it; Work drafts it only to contacts whose consent column says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UTM tags on every link. Conversion per channel decides next month's budget — not opinion.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November open house is the term's biggest bet. Turn visitors into leads with a free starter guide, fix the site's search visibility, email only people who opted in — then read the numbers to decide where next month's S$3,000 goes.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lead magnet, an SEO-fixed site, a newsletter to consented contacts only, and a results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(skills.sh) → ChatGPT Work (@Gmail,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lead-magnets · seo-audit · newsletter-generation · consent · UTM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(skills.sh) → ChatGPT Work (@Gmail, analysis)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three skills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cook-and-bake repo, run the three commands in skills-to-install.md.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lead magnet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Fix the SEO  </a:t>
            </a:r>
            <a:r>
              <a:rPr sz="1300">
                <a:solidFill>
                  <a:srgbClr val="6B6862"/>
                </a:solidFill>
                <a:latin typeface="Calibri"/>
              </a:rPr>
              <a:t>Run $seo-audit on the site; fix the top three issues and ship with $gitpush.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Write the newsletter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in Codex.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it properly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C.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Measure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D.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$lead-magnets Create "The Home Baker's Sourdough Starter Guide" — a 4-page PDF lead magnet from kb/brochures/BAK-101.md and open-house-brief.md, plus a landing section on our site with an email field (same consent rules as the sign-up form).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$newsletter-generation Write the November newsletter as HTML email: open house (date, both campuses), 3 featured courses from data/courses.csv, the starter guide link, and UTM-tagged links per utm-plan.md. One clear call to action.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C and D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optins.csv, create one @Gmail DRAFT of the newsletter per contact with consent = yes only. Report how many were excluded and why.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D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campaign-results.csv. For each channel: sessions, downloads, RSVPs, sign-ups and conversion rate. Which channel converts best per visit and per volume? Recommend next month's S$3,000 budget split, with your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Marketing without consent is not a growth hack — it breaks Singapore's PDPA. The consent column decides who gets mail.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marketing skills are installed and recorded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lead magnet uses only facts from the source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three SEO issues are fixed and deployed.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newsletter link carries UTM tags.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Drafts went only to consent = yes; 5 contacts were excluded.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results report gives conversion per channel and a budget split.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Delegate to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Ask Codex to "use subagents" and it runs specialists in parallel, each in its own thread, then combines what they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8862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21991"/>
            <a:ext cx="348386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6B6862"/>
                </a:solidFill>
                <a:latin typeface="Calibri"/>
              </a:defRPr>
            </a:pPr>
            <a:r>
              <a:t>ONE AGENT DOES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87752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One context window,</a:t>
            </a:r>
          </a:p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filling up with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19272"/>
            <a:ext cx="640080" cy="475488"/>
          </a:xfrm>
          <a:prstGeom prst="rect">
            <a:avLst/>
          </a:prstGeom>
          <a:solidFill>
            <a:srgbClr val="EA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3319272"/>
            <a:ext cx="640080" cy="475488"/>
          </a:xfrm>
          <a:prstGeom prst="rect">
            <a:avLst/>
          </a:prstGeom>
          <a:solidFill>
            <a:srgbClr val="E4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3319272"/>
            <a:ext cx="640080" cy="475488"/>
          </a:xfrm>
          <a:prstGeom prst="rect">
            <a:avLst/>
          </a:prstGeom>
          <a:solidFill>
            <a:srgbClr val="DDB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3319272"/>
            <a:ext cx="640080" cy="475488"/>
          </a:xfrm>
          <a:prstGeom prst="rect">
            <a:avLst/>
          </a:prstGeom>
          <a:solidFill>
            <a:srgbClr val="D6A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319272"/>
            <a:ext cx="640080" cy="475488"/>
          </a:xfrm>
          <a:prstGeom prst="rect">
            <a:avLst/>
          </a:prstGeom>
          <a:solidFill>
            <a:srgbClr val="CF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59352"/>
            <a:ext cx="34838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One job after another · one voice · marks its own homework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6949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2221991"/>
            <a:ext cx="65471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A MAIN AGENT DELEGATES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79" y="249631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2532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C9C4B9"/>
                </a:solidFill>
                <a:latin typeface="Calibri"/>
              </a:defRPr>
            </a:pPr>
            <a:r>
              <a:t>plans · delegates · combines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641848" y="3063239"/>
            <a:ext cx="2496311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82896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Copywriter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06056" y="3063239"/>
            <a:ext cx="83210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47104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Visual director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59" y="3063239"/>
            <a:ext cx="832105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11312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Video 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59" y="3063239"/>
            <a:ext cx="249631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19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Brand 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reports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7" y="4187952"/>
            <a:ext cx="6547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In parallel · each with a fresh, focused context · only the results come 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Independent jobs run at the same time, not one after another.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0748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0748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7052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Focused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7052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Each agent starts with a fresh context holding only its own job.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2857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32857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79161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Specialised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9161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Its own job and rules, described in plain words in your prompt.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4966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966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1270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Independent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1270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A reviewer that only reports checks work it did not write.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7075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7075" y="4809744"/>
            <a:ext cx="2095804" cy="54864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3379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3379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More tokens and more to review. Delegate only work that is truly independent.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after every edit: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npm run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Set up by asking Codex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"run them as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subagents"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Described in your prompt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Two days, three surfaces,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+ Work: a cited market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site, sign-ups, SQLite RAG assistant, shipped.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Work: pricing, calendar, enrolment, service.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skills, agents and Work: brand, content, campaign.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Your Feedback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complete the course feedback form before you leave — it helps us improve this course.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certificate of completion will be emailed to you after the course.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12.4 — 25 September 2026</dc:description>
</cp:coreProperties>
</file>